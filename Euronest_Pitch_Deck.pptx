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(EUR k)</c:v>
                </c:pt>
              </c:strCache>
            </c:strRef>
          </c:tx>
          <c:spPr>
            <a:solidFill>
              <a:srgbClr val="102A54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540</c:v>
                </c:pt>
                <c:pt idx="1">
                  <c:v>1820</c:v>
                </c:pt>
                <c:pt idx="2">
                  <c:v>3360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Gross margin (EUR k)</c:v>
                </c:pt>
              </c:strCache>
            </c:strRef>
          </c:tx>
          <c:spPr>
            <a:solidFill>
              <a:srgbClr val="3E63A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155</c:v>
                </c:pt>
                <c:pt idx="1">
                  <c:v>610</c:v>
                </c:pt>
                <c:pt idx="2">
                  <c:v>1180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(EUR k)</c:v>
                </c:pt>
              </c:strCache>
            </c:strRef>
          </c:tx>
          <c:spPr>
            <a:solidFill>
              <a:srgbClr val="C99A3C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-35</c:v>
                </c:pt>
                <c:pt idx="1">
                  <c:v>215</c:v>
                </c:pt>
                <c:pt idx="2">
                  <c:v>540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20" y="0"/>
            <a:ext cx="1828800" cy="685800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0" b="1" i="0">
                <a:solidFill>
                  <a:srgbClr val="FFFFFF"/>
                </a:solidFill>
                <a:latin typeface="Calibri"/>
              </a:rPr>
              <a:t>EURONEST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FFFFFF"/>
                </a:solidFill>
                <a:latin typeface="Calibri"/>
              </a:rPr>
              <a:t>Student housing &amp; lifestyle subscription, France 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749039"/>
            <a:ext cx="731520" cy="4572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FFFFFF"/>
                </a:solidFill>
                <a:latin typeface="Calibri"/>
              </a:rPr>
              <a:t>Business Plan  |  April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434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EF2F8"/>
                </a:solidFill>
                <a:latin typeface="Calibri"/>
              </a:rPr>
              <a:t>ISTEC, Paris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EF2F8"/>
                </a:solidFill>
                <a:latin typeface="Calibri"/>
              </a:rPr>
              <a:t>Mansoor Ali  ·  Fidha Fathima Panankavil  ·  Leo Joy  ·  Nithin Stanley George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EF2F8"/>
                </a:solidFill>
                <a:latin typeface="Calibri"/>
              </a:rPr>
              <a:t>Minhaj Eswaramangalam  ·  Gopinath Dasan  ·  Nithin Pallampetti Velayudhan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What we will cover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640080" cy="713232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828800"/>
            <a:ext cx="48463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745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02A54"/>
                </a:solidFill>
                <a:latin typeface="Calibr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1284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380"/>
                </a:solidFill>
                <a:latin typeface="Calibri"/>
              </a:rPr>
              <a:t>Why student housing in France is broken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828800"/>
            <a:ext cx="640080" cy="713232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828800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1828800"/>
            <a:ext cx="48463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18745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02A54"/>
                </a:solidFill>
                <a:latin typeface="Calibri"/>
              </a:rPr>
              <a:t>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21284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380"/>
                </a:solidFill>
                <a:latin typeface="Calibri"/>
              </a:rPr>
              <a:t>What Euronest actually does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44952"/>
            <a:ext cx="640080" cy="713232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44952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3044952"/>
            <a:ext cx="48463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090672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02A54"/>
                </a:solidFill>
                <a:latin typeface="Calibri"/>
              </a:rPr>
              <a:t>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4290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380"/>
                </a:solidFill>
                <a:latin typeface="Calibri"/>
              </a:rPr>
              <a:t>Where we are starting and why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044952"/>
            <a:ext cx="640080" cy="713232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044952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9440" y="3044952"/>
            <a:ext cx="48463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0" y="3090672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02A54"/>
                </a:solidFill>
                <a:latin typeface="Calibri"/>
              </a:rPr>
              <a:t>Business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4290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380"/>
                </a:solidFill>
                <a:latin typeface="Calibri"/>
              </a:rPr>
              <a:t>Tiers, revenue, unit economics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261104"/>
            <a:ext cx="640080" cy="713232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261104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4261104"/>
            <a:ext cx="48463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4306824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02A54"/>
                </a:solidFill>
                <a:latin typeface="Calibri"/>
              </a:rPr>
              <a:t>Financials &amp; ask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645152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380"/>
                </a:solidFill>
                <a:latin typeface="Calibri"/>
              </a:rPr>
              <a:t>Three-year plan and the EUR 180k raise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261104"/>
            <a:ext cx="640080" cy="713232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4261104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49440" y="4261104"/>
            <a:ext cx="48463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0" y="4306824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02A54"/>
                </a:solidFill>
                <a:latin typeface="Calibri"/>
              </a:rPr>
              <a:t>Team &amp; roadmap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4645152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380"/>
                </a:solidFill>
                <a:latin typeface="Calibri"/>
              </a:rPr>
              <a:t>Who is doing this and what comes next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01 ·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Finding student housing in France is broken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2697480" cy="109728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02A54"/>
                </a:solidFill>
                <a:latin typeface="Calibri"/>
              </a:rPr>
              <a:t>1 in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students we interviewed had sent money to a fake or misleading listing.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82880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828800"/>
            <a:ext cx="2697480" cy="109728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214884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02A54"/>
                </a:solidFill>
                <a:latin typeface="Calibri"/>
              </a:rPr>
              <a:t>12-20 pages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92608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of a French legal-vocabulary lease, usually signed without full understanding.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82880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828800"/>
            <a:ext cx="2697480" cy="109728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14884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02A54"/>
                </a:solidFill>
                <a:latin typeface="Calibri"/>
              </a:rPr>
              <a:t>3x 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the income a French guarantor must show. Most non-EU students cannot find 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182880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0" y="1828800"/>
            <a:ext cx="2697480" cy="109728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214884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02A54"/>
                </a:solidFill>
                <a:latin typeface="Calibri"/>
              </a:rPr>
              <a:t>6 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292608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rent demanded upfront by many landlords when the guarantor wall blocks them.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380"/>
                </a:solidFill>
                <a:latin typeface="Calibri"/>
              </a:rPr>
              <a:t>Source: 42 interviews with international students at ISTEC and three other Paris schools, Jan-Mar 2026.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01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The market is moving in our direction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3E63A6"/>
                </a:solidFill>
                <a:latin typeface="Calibri"/>
              </a:rPr>
              <a:t>430,000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87452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02A54"/>
                </a:solidFill>
                <a:latin typeface="Calibri"/>
              </a:rPr>
              <a:t>international students in France in 2024-25.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2860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380"/>
                </a:solidFill>
                <a:latin typeface="Calibri"/>
              </a:rPr>
              <a:t>Stated government target: 500,000 by 2027.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46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3E63A6"/>
                </a:solidFill>
                <a:latin typeface="Calibri"/>
              </a:rPr>
              <a:t>~175,000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29184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02A54"/>
                </a:solidFill>
                <a:latin typeface="Calibri"/>
              </a:rPr>
              <a:t>publicly owned CROUS rooms.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380"/>
                </a:solidFill>
                <a:latin typeface="Calibri"/>
              </a:rPr>
              <a:t>Waitlisted, allocation favours French and EU students.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3E63A6"/>
                </a:solidFill>
                <a:latin typeface="Calibri"/>
              </a:rPr>
              <a:t>&lt;15%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47091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02A54"/>
                </a:solidFill>
                <a:latin typeface="Calibri"/>
              </a:rPr>
              <a:t>of the private student housing stock is professionally managed.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512064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380"/>
                </a:solidFill>
                <a:latin typeface="Calibri"/>
              </a:rPr>
              <a:t>The rest is fragmented across small landlords.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828800"/>
            <a:ext cx="3200400" cy="41148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9659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9A3C"/>
                </a:solidFill>
                <a:latin typeface="Calibri"/>
              </a:rPr>
              <a:t>Why 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468880"/>
            <a:ext cx="28346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The 2026 intake is the first cohort that grew up booking flights, food and rides from an app.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They expect housing to work the same way.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Right now it does not.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02 ·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Euronest in one frame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65760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3657600" cy="59436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2996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Verified apartment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Every property visited and checked against a 38-point list.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We refuse roughly a third of what landlords offer 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20240"/>
            <a:ext cx="365760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920240"/>
            <a:ext cx="3657600" cy="59436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011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202996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One bundled price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788920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Rent, utilities, internet, gym, streaming and optional meals in a single monthly invoice.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Euronest acts as guarantor for standard and premium tiers.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920240"/>
            <a:ext cx="365760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920240"/>
            <a:ext cx="3657600" cy="59436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2011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02996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One named coordinator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788920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Each subscriber gets one person, multilingual, reachable on WhatsApp from move-in to move-out.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02 · USER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How a student becomes a subscriber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560320"/>
            <a:ext cx="2194560" cy="64008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34440" y="2194560"/>
            <a:ext cx="731520" cy="731520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1945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089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02A54"/>
                </a:solidFill>
                <a:latin typeface="Calibri"/>
              </a:rPr>
              <a:t>Discover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566160"/>
            <a:ext cx="20116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TikTok, friend or YouTube city guide. Lands on the site, watches a 90-second explainer.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8" y="2560320"/>
            <a:ext cx="2194560" cy="64008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3008" y="2194560"/>
            <a:ext cx="731520" cy="731520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3008" y="21945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31089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02A54"/>
                </a:solidFill>
                <a:latin typeface="Calibri"/>
              </a:rPr>
              <a:t>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566160"/>
            <a:ext cx="20116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Picks a city, a tier and a move-in date. Signs a bilingual lease. Pays into escrow.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0056" y="2560320"/>
            <a:ext cx="2194560" cy="64008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51576" y="2194560"/>
            <a:ext cx="731520" cy="731520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51576" y="21945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0056" y="31089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02A54"/>
                </a:solidFill>
                <a:latin typeface="Calibri"/>
              </a:rPr>
              <a:t>Arrive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1496" y="3566160"/>
            <a:ext cx="20116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Coordinator meets the student at the door. Inventory walkthrough. Wi-Fi already 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78624" y="2560320"/>
            <a:ext cx="2194560" cy="64008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10144" y="2194560"/>
            <a:ext cx="731520" cy="731520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4" y="21945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8624" y="31089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02A54"/>
                </a:solidFill>
                <a:latin typeface="Calibri"/>
              </a:rPr>
              <a:t>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4" y="3566160"/>
            <a:ext cx="20116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WhatsApp contact stays open. Maintenance SLAs published. Quiet-hours code of conduct signed.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37192" y="2560320"/>
            <a:ext cx="2194560" cy="64008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268712" y="2194560"/>
            <a:ext cx="731520" cy="731520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8712" y="21945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37192" y="31089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02A54"/>
                </a:solidFill>
                <a:latin typeface="Calibri"/>
              </a:rPr>
              <a:t>Renew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3566160"/>
            <a:ext cx="20116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Two months before lease end: renew, swap city, or get matched with a roommate for next year.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02 · OFFER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Three tiers, one invoice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370332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3703320" cy="96012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Basic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402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EUR 690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>·  Furnished apartment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9184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>·  Fibre internet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>·  Utilities included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>·  Contents insurance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5394960"/>
            <a:ext cx="3246120" cy="3657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504688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1">
                <a:solidFill>
                  <a:srgbClr val="6B7380"/>
                </a:solidFill>
                <a:latin typeface="Calibri"/>
              </a:rPr>
              <a:t>Short stays, budget-sensitive Erasmus students.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1737360"/>
            <a:ext cx="370332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34840" y="1737360"/>
            <a:ext cx="3703320" cy="96012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182880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Standard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22402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EUR 890 / 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288036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>·  Everything in Basic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29184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>·  Gym pass (Basic-Fit / Fitness Park)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370332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>·  Netflix or Amazon Prime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411480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>·  Euronest acts as guarantor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5394960"/>
            <a:ext cx="324612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9160" y="5504688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1">
                <a:solidFill>
                  <a:srgbClr val="6B7380"/>
                </a:solidFill>
                <a:latin typeface="Calibri"/>
              </a:rPr>
              <a:t>Master's students for a full academic year.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1737360"/>
            <a:ext cx="3703320" cy="4480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0" y="1737360"/>
            <a:ext cx="3703320" cy="96012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182880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Premium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22402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EUR 1,190 / month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288036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>·  Everything in Standard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29184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>·  Meal plan, 15 meals/week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70332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>·  Visa &amp; paperwork support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114800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>·  One return-home flight credit (up to EUR 450)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5394960"/>
            <a:ext cx="3246120" cy="36576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0" y="5504688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1">
                <a:solidFill>
                  <a:srgbClr val="6B7380"/>
                </a:solidFill>
                <a:latin typeface="Calibri"/>
              </a:rPr>
              <a:t>Students whose families want the full setup.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008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380"/>
                </a:solidFill>
                <a:latin typeface="Calibri"/>
              </a:rPr>
              <a:t>Paris pricing shown. Lyon and other cities 15-25% lower. Six-month prepay carries a 5% discount.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03 ·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Five cities, ~60% of France's international students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943600" cy="50292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9202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Intl. students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92024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Avg studio 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920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Entry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31720"/>
            <a:ext cx="59436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40487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2A54"/>
                </a:solidFill>
                <a:latin typeface="Calibri"/>
              </a:rPr>
              <a:t>Paris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40487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115,000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40487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EUR 950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40487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E63A6"/>
                </a:solidFill>
                <a:latin typeface="Calibri"/>
              </a:rPr>
              <a:t>Y1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788920"/>
            <a:ext cx="5943600" cy="4572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2A54"/>
                </a:solidFill>
                <a:latin typeface="Calibri"/>
              </a:rPr>
              <a:t>Lyon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86207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32,000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86207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EUR 620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86207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E63A6"/>
                </a:solidFill>
                <a:latin typeface="Calibri"/>
              </a:rPr>
              <a:t>Y1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46120"/>
            <a:ext cx="59436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31927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2A54"/>
                </a:solidFill>
                <a:latin typeface="Calibri"/>
              </a:rPr>
              <a:t>Lille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331927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21,000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31927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EUR 540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331927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E63A6"/>
                </a:solidFill>
                <a:latin typeface="Calibri"/>
              </a:rPr>
              <a:t>Y2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703320"/>
            <a:ext cx="5943600" cy="4572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377647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2A54"/>
                </a:solidFill>
                <a:latin typeface="Calibri"/>
              </a:rPr>
              <a:t>Toulouse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377647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19,000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377647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EUR 560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377647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E63A6"/>
                </a:solidFill>
                <a:latin typeface="Calibri"/>
              </a:rPr>
              <a:t>Y2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160520"/>
            <a:ext cx="59436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23367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02A54"/>
                </a:solidFill>
                <a:latin typeface="Calibri"/>
              </a:rPr>
              <a:t>Marseille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423367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17,000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423367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C1C1C"/>
                </a:solidFill>
                <a:latin typeface="Calibri"/>
              </a:rPr>
              <a:t>EUR 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423367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E63A6"/>
                </a:solidFill>
                <a:latin typeface="Calibri"/>
              </a:rPr>
              <a:t>Y3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40880" y="1828800"/>
            <a:ext cx="4572000" cy="41148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60" y="19659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9A3C"/>
                </a:solidFill>
                <a:latin typeface="Calibri"/>
              </a:rPr>
              <a:t>What this means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2514600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Paris and Lyon at launch give us critical mass without spreading too thin.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Lille and Toulouse in year two open the Erasmus corridor.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Marseille closes the southern triangle in year three.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03 · 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Where we sit against the alternatives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685800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69080" y="1828800"/>
            <a:ext cx="18288" cy="420624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931920"/>
            <a:ext cx="6858000" cy="18288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B7380"/>
                </a:solidFill>
                <a:latin typeface="Calibri"/>
              </a:rPr>
              <a:t>Service depth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69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B7380"/>
                </a:solidFill>
                <a:latin typeface="Calibri"/>
              </a:rPr>
              <a:t>Inventory</a:t>
            </a:r>
          </a:p>
        </p:txBody>
      </p:sp>
      <p:sp>
        <p:nvSpPr>
          <p:cNvPr id="12" name="Oval 11"/>
          <p:cNvSpPr/>
          <p:nvPr/>
        </p:nvSpPr>
        <p:spPr>
          <a:xfrm>
            <a:off x="1540764" y="5065776"/>
            <a:ext cx="256032" cy="256032"/>
          </a:xfrm>
          <a:prstGeom prst="ellipse">
            <a:avLst/>
          </a:prstGeom>
          <a:solidFill>
            <a:srgbClr val="3E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42516" y="50749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Airbnb</a:t>
            </a:r>
          </a:p>
        </p:txBody>
      </p:sp>
      <p:sp>
        <p:nvSpPr>
          <p:cNvPr id="14" name="Oval 13"/>
          <p:cNvSpPr/>
          <p:nvPr/>
        </p:nvSpPr>
        <p:spPr>
          <a:xfrm>
            <a:off x="2569464" y="4645152"/>
            <a:ext cx="256032" cy="256032"/>
          </a:xfrm>
          <a:prstGeom prst="ellipse">
            <a:avLst/>
          </a:prstGeom>
          <a:solidFill>
            <a:srgbClr val="3E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1216" y="46542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Studapart</a:t>
            </a:r>
          </a:p>
        </p:txBody>
      </p:sp>
      <p:sp>
        <p:nvSpPr>
          <p:cNvPr id="16" name="Oval 15"/>
          <p:cNvSpPr/>
          <p:nvPr/>
        </p:nvSpPr>
        <p:spPr>
          <a:xfrm>
            <a:off x="4283964" y="3593591"/>
            <a:ext cx="256032" cy="256032"/>
          </a:xfrm>
          <a:prstGeom prst="ellipse">
            <a:avLst/>
          </a:prstGeom>
          <a:solidFill>
            <a:srgbClr val="3E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5716" y="360273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Uniplaces</a:t>
            </a:r>
          </a:p>
        </p:txBody>
      </p:sp>
      <p:sp>
        <p:nvSpPr>
          <p:cNvPr id="18" name="Oval 17"/>
          <p:cNvSpPr/>
          <p:nvPr/>
        </p:nvSpPr>
        <p:spPr>
          <a:xfrm>
            <a:off x="3255264" y="4014216"/>
            <a:ext cx="256032" cy="256032"/>
          </a:xfrm>
          <a:prstGeom prst="ellipse">
            <a:avLst/>
          </a:prstGeom>
          <a:solidFill>
            <a:srgbClr val="3E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57016" y="40233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HousingAnywhere</a:t>
            </a:r>
          </a:p>
        </p:txBody>
      </p:sp>
      <p:sp>
        <p:nvSpPr>
          <p:cNvPr id="20" name="Oval 19"/>
          <p:cNvSpPr/>
          <p:nvPr/>
        </p:nvSpPr>
        <p:spPr>
          <a:xfrm>
            <a:off x="3598164" y="3383280"/>
            <a:ext cx="256032" cy="256032"/>
          </a:xfrm>
          <a:prstGeom prst="ellipse">
            <a:avLst/>
          </a:prstGeom>
          <a:solidFill>
            <a:srgbClr val="3E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99916" y="3392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Student.com</a:t>
            </a:r>
          </a:p>
        </p:txBody>
      </p:sp>
      <p:sp>
        <p:nvSpPr>
          <p:cNvPr id="22" name="Oval 21"/>
          <p:cNvSpPr/>
          <p:nvPr/>
        </p:nvSpPr>
        <p:spPr>
          <a:xfrm>
            <a:off x="1197864" y="5486400"/>
            <a:ext cx="256032" cy="256032"/>
          </a:xfrm>
          <a:prstGeom prst="ellipse">
            <a:avLst/>
          </a:prstGeom>
          <a:solidFill>
            <a:srgbClr val="3E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99616" y="54955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CROUS</a:t>
            </a:r>
          </a:p>
        </p:txBody>
      </p:sp>
      <p:sp>
        <p:nvSpPr>
          <p:cNvPr id="24" name="Oval 23"/>
          <p:cNvSpPr/>
          <p:nvPr/>
        </p:nvSpPr>
        <p:spPr>
          <a:xfrm>
            <a:off x="1883664" y="3803904"/>
            <a:ext cx="256032" cy="256032"/>
          </a:xfrm>
          <a:prstGeom prst="ellipse">
            <a:avLst/>
          </a:prstGeom>
          <a:solidFill>
            <a:srgbClr val="3E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85416" y="38130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Local agencies</a:t>
            </a:r>
          </a:p>
        </p:txBody>
      </p:sp>
      <p:sp>
        <p:nvSpPr>
          <p:cNvPr id="26" name="Oval 25"/>
          <p:cNvSpPr/>
          <p:nvPr/>
        </p:nvSpPr>
        <p:spPr>
          <a:xfrm>
            <a:off x="5582412" y="2258568"/>
            <a:ext cx="402336" cy="402336"/>
          </a:xfrm>
          <a:prstGeom prst="ellipse">
            <a:avLst/>
          </a:prstGeom>
          <a:solidFill>
            <a:srgbClr val="C99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0468" y="234086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02A54"/>
                </a:solidFill>
                <a:latin typeface="Calibri"/>
              </a:rPr>
              <a:t>Euronest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18288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02A54"/>
                </a:solidFill>
                <a:latin typeface="Calibri"/>
              </a:rPr>
              <a:t>Our position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240280"/>
            <a:ext cx="457200" cy="36576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79" y="2468880"/>
            <a:ext cx="36576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>No competitor combines a curated inventory, an in-house guarantor, and a service bundle around the apartment.</a:t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1C1C1C"/>
                </a:solidFill>
                <a:latin typeface="Calibri"/>
              </a:rPr>
              <a:t>Pieces of what we offer exist everywhere. Putting them together is the moat.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04 ·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How we make money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05840" cy="77724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005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74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02A54"/>
                </a:solidFill>
                <a:latin typeface="Calibri"/>
              </a:rPr>
              <a:t>Subscription revenue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402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380"/>
                </a:solidFill>
                <a:latin typeface="Calibri"/>
              </a:rPr>
              <a:t>Monthly or 6-month prepay across all three tiers.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788920"/>
            <a:ext cx="1005840" cy="77724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88920"/>
            <a:ext cx="1005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02A54"/>
                </a:solidFill>
                <a:latin typeface="Calibri"/>
              </a:rPr>
              <a:t>Landlord commission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004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380"/>
                </a:solidFill>
                <a:latin typeface="Calibri"/>
              </a:rPr>
              <a:t>On listings we route but do not head-lease.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49040"/>
            <a:ext cx="1005840" cy="77724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49040"/>
            <a:ext cx="1005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94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02A54"/>
                </a:solidFill>
                <a:latin typeface="Calibri"/>
              </a:rPr>
              <a:t>Service partner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1605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380"/>
                </a:solidFill>
                <a:latin typeface="Calibri"/>
              </a:rPr>
              <a:t>Gyms, ISPs, meal providers.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709160"/>
            <a:ext cx="1005840" cy="77724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09160"/>
            <a:ext cx="1005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7548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02A54"/>
                </a:solidFill>
                <a:latin typeface="Calibri"/>
              </a:rPr>
              <a:t>Add-ons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120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380"/>
                </a:solidFill>
                <a:latin typeface="Calibri"/>
              </a:rPr>
              <a:t>Airport pickup, SIM card, language coaching.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1828800"/>
            <a:ext cx="4297680" cy="41148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79" y="19659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9A3C"/>
                </a:solidFill>
                <a:latin typeface="Calibri"/>
              </a:rPr>
              <a:t>Unit economics (year 1 blended)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25146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EF2F8"/>
                </a:solidFill>
                <a:latin typeface="Calibri"/>
              </a:rPr>
              <a:t>Avg subscription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25146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EUR 870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175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EF2F8"/>
                </a:solidFill>
                <a:latin typeface="Calibri"/>
              </a:rPr>
              <a:t>Cost of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30175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EUR 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3520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EF2F8"/>
                </a:solidFill>
                <a:latin typeface="Calibri"/>
              </a:rPr>
              <a:t>Contribution / subscriber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35204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EUR 480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0233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EF2F8"/>
                </a:solidFill>
                <a:latin typeface="Calibri"/>
              </a:rPr>
              <a:t>Fixed monthly opex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4023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EUR 18,500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526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EF2F8"/>
                </a:solidFill>
                <a:latin typeface="Calibri"/>
              </a:rPr>
              <a:t>Break-even subscribers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04 · SERVICE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What we promise to the subscriber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65760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64592" cy="2286000"/>
          </a:xfrm>
          <a:prstGeom prst="rect">
            <a:avLst/>
          </a:prstGeom>
          <a:solidFill>
            <a:srgbClr val="D06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2A54"/>
                </a:solidFill>
                <a:latin typeface="Calibri"/>
              </a:rPr>
              <a:t>Emergency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68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D06A5F"/>
                </a:solidFill>
                <a:latin typeface="Calibri"/>
              </a:rPr>
              <a:t>Within 24 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17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No power, water leak, lock failure.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828800"/>
            <a:ext cx="365760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828800"/>
            <a:ext cx="164592" cy="228600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9659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2A54"/>
                </a:solidFill>
                <a:latin typeface="Calibri"/>
              </a:rPr>
              <a:t>Urgent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468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9A3C"/>
                </a:solidFill>
                <a:latin typeface="Calibri"/>
              </a:rPr>
              <a:t>Within 5 working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17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Broken appliance, heater, prolonged outage.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828800"/>
            <a:ext cx="365760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828800"/>
            <a:ext cx="164592" cy="228600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9659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2A54"/>
                </a:solidFill>
                <a:latin typeface="Calibri"/>
              </a:rPr>
              <a:t>Non-urgent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468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A7C59"/>
                </a:solidFill>
                <a:latin typeface="Calibri"/>
              </a:rPr>
              <a:t>Within 28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01752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Single fitting, sticking door or window.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389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54"/>
                </a:solidFill>
                <a:latin typeface="Calibri"/>
              </a:rPr>
              <a:t>Other standards we publish in every lease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800600"/>
            <a:ext cx="45720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93776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C1C1C"/>
                </a:solidFill>
                <a:latin typeface="Calibri"/>
              </a:rPr>
              <a:t>— One named, multilingual coordinator from move-in to move-out. No round-robin call centre.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C1C1C"/>
                </a:solidFill>
                <a:latin typeface="Calibri"/>
              </a:rPr>
              <a:t>— Quiet hours 22:00 to 07:00. Four-step neighbour-complaint escalation.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C1C1C"/>
                </a:solidFill>
                <a:latin typeface="Calibri"/>
              </a:rPr>
              <a:t>— Smoke detector tested at move-in and annually. Fire blanket and 2 kg extinguisher in every kitchen.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1C1C1C"/>
                </a:solidFill>
                <a:latin typeface="Calibri"/>
              </a:rPr>
              <a:t>— Bilingual lease in French and English. Deposit held in escrow.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05 · FINANCIALS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Three-year projection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828800"/>
          <a:ext cx="68580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0" y="1828800"/>
            <a:ext cx="3840480" cy="420624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9659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C99A3C"/>
                </a:solidFill>
                <a:latin typeface="Calibri"/>
              </a:rPr>
              <a:t>What the numbers say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514600"/>
            <a:ext cx="356616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Year 1 is intentionally loss-making.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September intake discount and a full team from month six push EBITDA negative by EUR 35k.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model turns positive between month 13 and 15, depending on how the June-August occupancy lands.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FFFFF"/>
                </a:solidFill>
                <a:latin typeface="Calibri"/>
              </a:rPr>
              <a:t>By year three: EBITDA EUR 540k on revenue of EUR 3.36m.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05 ·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EUR 180,000 to launch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029200" cy="32004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FFFFFF"/>
                </a:solidFill>
                <a:latin typeface="Calibri"/>
              </a:rPr>
              <a:t>EUR 180k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99A3C"/>
                </a:solidFill>
                <a:latin typeface="Calibri"/>
              </a:rPr>
              <a:t>initial round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EF2F8"/>
                </a:solidFill>
                <a:latin typeface="Calibri"/>
              </a:rPr>
              <a:t>Founders EUR 40k  ·  Bpifrance loan EUR 60k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EEF2F8"/>
                </a:solidFill>
                <a:latin typeface="Calibri"/>
              </a:rPr>
              <a:t>Angel round EUR 80k for 12% equity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02A54"/>
                </a:solidFill>
                <a:latin typeface="Calibri"/>
              </a:rPr>
              <a:t>Use of funds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377440"/>
            <a:ext cx="45720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517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Platform and mobile app development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265176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102A54"/>
                </a:solidFill>
                <a:latin typeface="Calibri"/>
              </a:rPr>
              <a:t>EUR 35k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971800"/>
            <a:ext cx="5029200" cy="54864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971800"/>
            <a:ext cx="977899" cy="54864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2004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Furniture, deposits, setup (first 25 units)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20040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102A54"/>
                </a:solidFill>
                <a:latin typeface="Calibri"/>
              </a:rPr>
              <a:t>EUR 55k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520440"/>
            <a:ext cx="5029200" cy="54864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3520440"/>
            <a:ext cx="1536700" cy="54864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749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Marketing for September 2026 intake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374904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102A54"/>
                </a:solidFill>
                <a:latin typeface="Calibri"/>
              </a:rPr>
              <a:t>EUR 25k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069080"/>
            <a:ext cx="5029200" cy="54864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4069080"/>
            <a:ext cx="698500" cy="54864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2976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Six months of fixed operating costs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42976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102A54"/>
                </a:solidFill>
                <a:latin typeface="Calibri"/>
              </a:rPr>
              <a:t>EUR 45k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617720"/>
            <a:ext cx="5029200" cy="54864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4617720"/>
            <a:ext cx="1257300" cy="54864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8463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C1C1C"/>
                </a:solidFill>
                <a:latin typeface="Calibri"/>
              </a:rPr>
              <a:t>Working capital reserve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484632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102A54"/>
                </a:solidFill>
                <a:latin typeface="Calibri"/>
              </a:rPr>
              <a:t>EUR 20k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166360"/>
            <a:ext cx="5029200" cy="54864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5166360"/>
            <a:ext cx="558800" cy="54864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06 ·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The founders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6974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2697480" cy="64008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92808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Mansoor Ali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E63A6"/>
                </a:solidFill>
                <a:latin typeface="Calibri"/>
              </a:rPr>
              <a:t>CEO, partnerships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2423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C1C1C"/>
                </a:solidFill>
                <a:latin typeface="Calibri"/>
              </a:rPr>
              <a:t>Hospitality operations; 40-room boutique hotel.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1828800"/>
            <a:ext cx="26974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1828800"/>
            <a:ext cx="2697480" cy="64008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892808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Fidha Fathima Panankavil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E63A6"/>
                </a:solidFill>
                <a:latin typeface="Calibri"/>
              </a:rPr>
              <a:t>COO, apartment 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017520"/>
            <a:ext cx="2423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C1C1C"/>
                </a:solidFill>
                <a:latin typeface="Calibri"/>
              </a:rPr>
              <a:t>Real estate analyst; inventory and setup.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828800"/>
            <a:ext cx="26974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828800"/>
            <a:ext cx="2697480" cy="64008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92808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Leo Joy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E63A6"/>
                </a:solidFill>
                <a:latin typeface="Calibri"/>
              </a:rPr>
              <a:t>CFO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017520"/>
            <a:ext cx="2423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C1C1C"/>
                </a:solidFill>
                <a:latin typeface="Calibri"/>
              </a:rPr>
              <a:t>Audit and corporate finance; runs the model and the raise.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828800"/>
            <a:ext cx="26974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828800"/>
            <a:ext cx="2697480" cy="64008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1892808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Nithin Stanley George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E63A6"/>
                </a:solidFill>
                <a:latin typeface="Calibri"/>
              </a:rPr>
              <a:t>CTO,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3017520"/>
            <a:ext cx="2423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C1C1C"/>
                </a:solidFill>
                <a:latin typeface="Calibri"/>
              </a:rPr>
              <a:t>Software engineer; website, app and payments.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114800"/>
            <a:ext cx="26974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114800"/>
            <a:ext cx="2697480" cy="64008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178808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Minhaj Eswaramangalam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892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E63A6"/>
                </a:solidFill>
                <a:latin typeface="Calibri"/>
              </a:rPr>
              <a:t>Head of marketing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303520"/>
            <a:ext cx="2423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C1C1C"/>
                </a:solidFill>
                <a:latin typeface="Calibri"/>
              </a:rPr>
              <a:t>Digital marketing; paid social, content, referral programme.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29000" y="4114800"/>
            <a:ext cx="26974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29000" y="4114800"/>
            <a:ext cx="2697480" cy="64008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11880" y="4178808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Gopinath Dasan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892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E63A6"/>
                </a:solidFill>
                <a:latin typeface="Calibri"/>
              </a:rPr>
              <a:t>Head of student 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303520"/>
            <a:ext cx="2423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C1C1C"/>
                </a:solidFill>
                <a:latin typeface="Calibri"/>
              </a:rPr>
              <a:t>Multilingual customer service; coordinator team lead.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4114800"/>
            <a:ext cx="26974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17920" y="4114800"/>
            <a:ext cx="2697480" cy="64008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178808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Nithin Pallampetti Velayudhan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892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E63A6"/>
                </a:solidFill>
                <a:latin typeface="Calibri"/>
              </a:rPr>
              <a:t>Head of legal &amp; compliance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303520"/>
            <a:ext cx="2423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C1C1C"/>
                </a:solidFill>
                <a:latin typeface="Calibri"/>
              </a:rPr>
              <a:t>Law graduate; lease templates, GDPR, regulatory tracking.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06 ·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Risks we are watching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64592" cy="731520"/>
          </a:xfrm>
          <a:prstGeom prst="rect">
            <a:avLst/>
          </a:prstGeom>
          <a:solidFill>
            <a:srgbClr val="D06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54"/>
                </a:solidFill>
                <a:latin typeface="Calibri"/>
              </a:rPr>
              <a:t>Trust gap on a new brand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87452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06A5F"/>
                </a:solidFill>
                <a:latin typeface="Calibri"/>
              </a:rPr>
              <a:t>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87452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Money-back guarantee on month one. First-cohort discount of 10%. Verified subscriber reviews from day 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697480"/>
            <a:ext cx="164592" cy="73152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432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54"/>
                </a:solidFill>
                <a:latin typeface="Calibri"/>
              </a:rPr>
              <a:t>Cash gap before break-even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7432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9A3C"/>
                </a:solidFill>
                <a:latin typeface="Calibri"/>
              </a:rP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74320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Six-month prepay pulls forward ~EUR 95k. Pre-agreed EUR 60k bridge with the angel investor for the worst case.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164592" cy="73152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54"/>
                </a:solidFill>
                <a:latin typeface="Calibri"/>
              </a:rPr>
              <a:t>Regulation on furnished lets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6118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4A7C59"/>
                </a:solidFill>
                <a:latin typeface="Calibri"/>
              </a:rPr>
              <a:t>Low / High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61188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Quarterly review with French housing lawyer. FNAIM membership for early visibility on rule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434840"/>
            <a:ext cx="164592" cy="73152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4805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54"/>
                </a:solidFill>
                <a:latin typeface="Calibri"/>
              </a:rPr>
              <a:t>Apartment damage or non-payment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48056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9A3C"/>
                </a:solidFill>
                <a:latin typeface="Calibri"/>
              </a:rPr>
              <a:t>Medium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48056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Two-month deposit in escrow. Civil liability insurance bundled into the standard tier.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303520"/>
            <a:ext cx="164592" cy="73152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3492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02A54"/>
                </a:solidFill>
                <a:latin typeface="Calibri"/>
              </a:rPr>
              <a:t>Key founder leaves before year-2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3492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9A3C"/>
                </a:solidFill>
                <a:latin typeface="Calibri"/>
              </a:rPr>
              <a:t>Medium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34924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Four-year vesting with one-year cliff. Two-deep coverage on every function.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06 ·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Where we are heading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10972800" cy="54864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08176" y="3072384"/>
            <a:ext cx="292608" cy="292608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02A54"/>
                </a:solidFill>
                <a:latin typeface="Calibri"/>
              </a:rPr>
              <a:t>Q2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380"/>
                </a:solidFill>
                <a:latin typeface="Calibri"/>
              </a:rPr>
              <a:t>Q2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66160"/>
            <a:ext cx="1828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·  Incorporate SAS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·  Close initial raise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·  Website MVP live</a:t>
            </a:r>
          </a:p>
        </p:txBody>
      </p:sp>
      <p:sp>
        <p:nvSpPr>
          <p:cNvPr id="12" name="Oval 11"/>
          <p:cNvSpPr/>
          <p:nvPr/>
        </p:nvSpPr>
        <p:spPr>
          <a:xfrm>
            <a:off x="3273552" y="3072384"/>
            <a:ext cx="292608" cy="292608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05456" y="1874519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02A54"/>
                </a:solidFill>
                <a:latin typeface="Calibri"/>
              </a:rPr>
              <a:t>Q3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22860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380"/>
                </a:solidFill>
                <a:latin typeface="Calibri"/>
              </a:rPr>
              <a:t>Q3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5456" y="3566160"/>
            <a:ext cx="1828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·  25 head-leased apartments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·  Sept intake: 20 paid subscribers</a:t>
            </a:r>
          </a:p>
        </p:txBody>
      </p:sp>
      <p:sp>
        <p:nvSpPr>
          <p:cNvPr id="16" name="Oval 15"/>
          <p:cNvSpPr/>
          <p:nvPr/>
        </p:nvSpPr>
        <p:spPr>
          <a:xfrm>
            <a:off x="5138928" y="3072384"/>
            <a:ext cx="292608" cy="292608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1874519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02A54"/>
                </a:solidFill>
                <a:latin typeface="Calibri"/>
              </a:rPr>
              <a:t>Q1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22860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380"/>
                </a:solidFill>
                <a:latin typeface="Calibri"/>
              </a:rPr>
              <a:t>Q1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0832" y="3566160"/>
            <a:ext cx="1828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·  55 active subscribers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·  Mobile app on iOS and Android</a:t>
            </a:r>
          </a:p>
        </p:txBody>
      </p:sp>
      <p:sp>
        <p:nvSpPr>
          <p:cNvPr id="20" name="Oval 19"/>
          <p:cNvSpPr/>
          <p:nvPr/>
        </p:nvSpPr>
        <p:spPr>
          <a:xfrm>
            <a:off x="7004304" y="3072384"/>
            <a:ext cx="292608" cy="292608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6208" y="1874519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02A54"/>
                </a:solidFill>
                <a:latin typeface="Calibri"/>
              </a:rPr>
              <a:t>Q3 2027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22860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380"/>
                </a:solidFill>
                <a:latin typeface="Calibri"/>
              </a:rPr>
              <a:t>Q3 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3566160"/>
            <a:ext cx="1828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·  Lille + Toulouse launch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·  AI roommate matching live</a:t>
            </a:r>
          </a:p>
        </p:txBody>
      </p:sp>
      <p:sp>
        <p:nvSpPr>
          <p:cNvPr id="24" name="Oval 23"/>
          <p:cNvSpPr/>
          <p:nvPr/>
        </p:nvSpPr>
        <p:spPr>
          <a:xfrm>
            <a:off x="8869680" y="3072384"/>
            <a:ext cx="292608" cy="292608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01584" y="1874519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02A54"/>
                </a:solidFill>
                <a:latin typeface="Calibri"/>
              </a:rPr>
              <a:t>Q4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1584" y="22860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380"/>
                </a:solidFill>
                <a:latin typeface="Calibri"/>
              </a:rPr>
              <a:t>Q4 2027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1584" y="3566160"/>
            <a:ext cx="1828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·  180 active subscribers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·  First EBITDA-positive month</a:t>
            </a:r>
          </a:p>
        </p:txBody>
      </p:sp>
      <p:sp>
        <p:nvSpPr>
          <p:cNvPr id="28" name="Oval 27"/>
          <p:cNvSpPr/>
          <p:nvPr/>
        </p:nvSpPr>
        <p:spPr>
          <a:xfrm>
            <a:off x="10735056" y="3072384"/>
            <a:ext cx="292608" cy="292608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1874519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02A54"/>
                </a:solidFill>
                <a:latin typeface="Calibri"/>
              </a:rPr>
              <a:t>Q4 2028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22860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380"/>
                </a:solidFill>
                <a:latin typeface="Calibri"/>
              </a:rPr>
              <a:t>Q4 2028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3566160"/>
            <a:ext cx="1828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·  320 subscribers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1C1C1C"/>
                </a:solidFill>
                <a:latin typeface="Calibri"/>
              </a:rPr>
              <a:t>·  Marseille launched, Series A opened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Three answers by month 18 decide whether year three is an expansion year or a consolidation year: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02A54"/>
                </a:solidFill>
                <a:latin typeface="Calibri"/>
              </a:rPr>
              <a:t>margin discipline   ·   retention between academic years   ·   marketing efficiency across cities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E63A6"/>
                </a:solidFill>
                <a:latin typeface="Calibri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02A54"/>
                </a:solidFill>
                <a:latin typeface="Calibri"/>
              </a:rPr>
              <a:t>Why we will win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48640" cy="36576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457200" cy="45720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8288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02A54"/>
                </a:solidFill>
                <a:latin typeface="Calibri"/>
              </a:rPr>
              <a:t>We are the customer.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774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C1C1C"/>
                </a:solidFill>
                <a:latin typeface="Calibri"/>
              </a:rPr>
              <a:t>Between the seven of us we have lived this problem. Every feature in the plan started as something one of us needed when we landed in France.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46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02A54"/>
                </a:solidFill>
                <a:latin typeface="Calibri"/>
              </a:rPr>
              <a:t>The moat compounds.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7947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C1C1C"/>
                </a:solidFill>
                <a:latin typeface="Calibri"/>
              </a:rPr>
              <a:t>Verified inventory, an in-house guarantor and a multilingual service layer are easy to describe and hard to assemble. Each year of operation makes the next year cheaper.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00600"/>
            <a:ext cx="457200" cy="45720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6634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02A54"/>
                </a:solidFill>
                <a:latin typeface="Calibri"/>
              </a:rPr>
              <a:t>We can stop early if it is not working.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212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C1C1C"/>
                </a:solidFill>
                <a:latin typeface="Calibri"/>
              </a:rPr>
              <a:t>If we are below 120 subscribers and above EUR 280 CAC at month 18, we shut it down. The product compounds on word of mouth or it does not.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Euronest  |  Pitch Deck  |  April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738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731520" cy="4572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FFFFFF"/>
                </a:solidFill>
                <a:latin typeface="Calibri"/>
              </a:rPr>
              <a:t>We would love your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EF2F8"/>
                </a:solidFill>
                <a:latin typeface="Calibri"/>
              </a:rPr>
              <a:t>founders@euronest.eu  ·  ISTEC, Paris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