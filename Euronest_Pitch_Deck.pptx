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dPt>
            <c:idx val="0"/>
            <c:spPr>
              <a:solidFill>
                <a:srgbClr val="102A54"/>
              </a:solidFill>
              <a:ln w="25400">
                <a:solidFill>
                  <a:srgbClr val="F5EFE6"/>
                </a:solidFill>
              </a:ln>
            </c:spPr>
          </c:dPt>
          <c:dPt>
            <c:idx val="1"/>
            <c:spPr>
              <a:solidFill>
                <a:srgbClr val="3E63A6"/>
              </a:solidFill>
              <a:ln w="25400">
                <a:solidFill>
                  <a:srgbClr val="F5EFE6"/>
                </a:solidFill>
              </a:ln>
            </c:spPr>
          </c:dPt>
          <c:dPt>
            <c:idx val="2"/>
            <c:spPr>
              <a:solidFill>
                <a:srgbClr val="6E8FC7"/>
              </a:solidFill>
              <a:ln w="25400">
                <a:solidFill>
                  <a:srgbClr val="F5EFE6"/>
                </a:solidFill>
              </a:ln>
            </c:spPr>
          </c:dPt>
          <c:dPt>
            <c:idx val="3"/>
            <c:spPr>
              <a:solidFill>
                <a:srgbClr val="C99A3C"/>
              </a:solidFill>
              <a:ln w="25400">
                <a:solidFill>
                  <a:srgbClr val="F5EFE6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Subscriptions</c:v>
                </c:pt>
                <c:pt idx="1">
                  <c:v>Landlord commission</c:v>
                </c:pt>
                <c:pt idx="2">
                  <c:v>Service partners</c:v>
                </c:pt>
                <c:pt idx="3">
                  <c:v>Add-ons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02A5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540</c:v>
                </c:pt>
                <c:pt idx="1">
                  <c:v>1820</c:v>
                </c:pt>
                <c:pt idx="2">
                  <c:v>3360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Gross margin</c:v>
                </c:pt>
              </c:strCache>
            </c:strRef>
          </c:tx>
          <c:spPr>
            <a:solidFill>
              <a:srgbClr val="3E63A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155</c:v>
                </c:pt>
                <c:pt idx="1">
                  <c:v>610</c:v>
                </c:pt>
                <c:pt idx="2">
                  <c:v>1180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C99A3C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-35</c:v>
                </c:pt>
                <c:pt idx="1">
                  <c:v>215</c:v>
                </c:pt>
                <c:pt idx="2">
                  <c:v>540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DEC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15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36.png"/><Relationship Id="rId5" Type="http://schemas.openxmlformats.org/officeDocument/2006/relationships/image" Target="../media/image40.png"/><Relationship Id="rId6" Type="http://schemas.openxmlformats.org/officeDocument/2006/relationships/image" Target="../media/image34.png"/><Relationship Id="rId7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42.png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0"/>
            <a:ext cx="4572000" cy="6858000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mera_8FA6C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355" y="26746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19695" y="3749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Cover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94015" y="4142232"/>
            <a:ext cx="4023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Suggested: a bright Paris / Lyon street or a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furnished student apartment. Portrait or any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crop, min 1600x2000px.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6543" y="0"/>
            <a:ext cx="73152" cy="685800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960120"/>
            <a:ext cx="868680" cy="9144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6583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Calibri"/>
              </a:rPr>
              <a:t>EURONEST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6400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0" i="1">
                <a:solidFill>
                  <a:srgbClr val="6E8FC7"/>
                </a:solidFill>
                <a:latin typeface="Calibri"/>
              </a:rPr>
              <a:t>Student housing and lifestyle,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0" i="1">
                <a:solidFill>
                  <a:srgbClr val="6E8FC7"/>
                </a:solidFill>
                <a:latin typeface="Calibri"/>
              </a:rPr>
              <a:t>built for the people who move.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77639"/>
            <a:ext cx="6035040" cy="16459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60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BUSINESS PITCH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ISTEC, Paris  ·  April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29200"/>
            <a:ext cx="6583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E8FC7"/>
                </a:solidFill>
                <a:latin typeface="Calibri"/>
              </a:rPr>
              <a:t>Mansoor Ali   ·   Fidha Fathima Panankavil   ·   Leo Joy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E8FC7"/>
                </a:solidFill>
                <a:latin typeface="Calibri"/>
              </a:rPr>
              <a:t>Nithin Stanley George   ·   Minhaj Eswaramangalam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 i="0">
                <a:solidFill>
                  <a:srgbClr val="6E8FC7"/>
                </a:solidFill>
                <a:latin typeface="Calibri"/>
              </a:rPr>
              <a:t>Gopinath Dasan   ·   Nithin Pallampetti Velayudhan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What we will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208483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arch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06" y="2251618"/>
            <a:ext cx="361370" cy="3613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20640" y="20116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208483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248716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Why housing in France fails students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208483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_check_3E63A6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906" y="2251618"/>
            <a:ext cx="361370" cy="3613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835640" y="20116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208483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Our 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248716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What Euronest actually does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9184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" y="354787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lobe_3E63A6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906" y="3714658"/>
            <a:ext cx="361370" cy="3613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20640" y="3474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354787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The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92808" y="395020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Where we start and who we serve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29184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75120" y="354787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allet_3E63A6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1906" y="3714658"/>
            <a:ext cx="361370" cy="3613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0835640" y="3474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7808" y="354787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Business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395020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Tiers, revenue and unit economics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475488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0120" y="501091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rend_3E63A6_260_1.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906" y="5177698"/>
            <a:ext cx="361370" cy="36137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120640" y="49377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92808" y="501091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Financials &amp;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541324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Three-year plan and the EUR 180k raise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4754880"/>
            <a:ext cx="5394960" cy="12070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675120" y="5010912"/>
            <a:ext cx="694944" cy="69494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rocket_3E63A6_260_1.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1906" y="5177698"/>
            <a:ext cx="361370" cy="36137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35640" y="49377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400" b="1" i="0">
                <a:solidFill>
                  <a:srgbClr val="E7EDF6"/>
                </a:solidFill>
                <a:latin typeface="Calibr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07808" y="5010912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Team &amp; roadmap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8" y="5413248"/>
            <a:ext cx="4023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6B7380"/>
                </a:solidFill>
                <a:latin typeface="Calibri"/>
              </a:rPr>
              <a:t>Who builds this, and what comes next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Housing in France is broken for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28800"/>
            <a:ext cx="258775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828800"/>
            <a:ext cx="2587752" cy="109728"/>
          </a:xfrm>
          <a:prstGeom prst="roundRect">
            <a:avLst>
              <a:gd name="adj" fmla="val 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2139696"/>
            <a:ext cx="768096" cy="768096"/>
          </a:xfrm>
          <a:prstGeom prst="roundRect">
            <a:avLst>
              <a:gd name="adj" fmla="val 24000"/>
            </a:avLst>
          </a:prstGeom>
          <a:solidFill>
            <a:srgbClr val="F6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lert_C45A4E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183" y="2324039"/>
            <a:ext cx="399409" cy="39940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5840" y="3127248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1 in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67328"/>
            <a:ext cx="2039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22733"/>
                </a:solidFill>
                <a:latin typeface="Calibri"/>
              </a:rPr>
              <a:t>students we interviewed had paid money to a fake or misleading listing.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56432" y="1828800"/>
            <a:ext cx="258775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56432" y="1828800"/>
            <a:ext cx="2587752" cy="109728"/>
          </a:xfrm>
          <a:prstGeom prst="roundRect">
            <a:avLst>
              <a:gd name="adj" fmla="val 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49040" y="2139696"/>
            <a:ext cx="768096" cy="768096"/>
          </a:xfrm>
          <a:prstGeom prst="roundRect">
            <a:avLst>
              <a:gd name="adj" fmla="val 24000"/>
            </a:avLst>
          </a:prstGeom>
          <a:solidFill>
            <a:srgbClr val="F6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oc_C45A4E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3383" y="2324039"/>
            <a:ext cx="399409" cy="39940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9040" y="3127248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20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3767328"/>
            <a:ext cx="2039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22733"/>
                </a:solidFill>
                <a:latin typeface="Calibri"/>
              </a:rPr>
              <a:t>of dense French legal lease, usually signed without fully understanding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828800"/>
            <a:ext cx="258775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99632" y="1828800"/>
            <a:ext cx="2587752" cy="109728"/>
          </a:xfrm>
          <a:prstGeom prst="roundRect">
            <a:avLst>
              <a:gd name="adj" fmla="val 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92240" y="2139696"/>
            <a:ext cx="768096" cy="768096"/>
          </a:xfrm>
          <a:prstGeom prst="roundRect">
            <a:avLst>
              <a:gd name="adj" fmla="val 24000"/>
            </a:avLst>
          </a:prstGeom>
          <a:solidFill>
            <a:srgbClr val="F6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uro_C45A4E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583" y="2324039"/>
            <a:ext cx="399409" cy="3994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92240" y="3127248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3x rent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767328"/>
            <a:ext cx="2039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22733"/>
                </a:solidFill>
                <a:latin typeface="Calibri"/>
              </a:rPr>
              <a:t>the income a French guarantor must show. Most non-EU students cannot find 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42832" y="1828800"/>
            <a:ext cx="2587752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942832" y="1828800"/>
            <a:ext cx="2587752" cy="109728"/>
          </a:xfrm>
          <a:prstGeom prst="roundRect">
            <a:avLst>
              <a:gd name="adj" fmla="val 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235440" y="2139696"/>
            <a:ext cx="768096" cy="768096"/>
          </a:xfrm>
          <a:prstGeom prst="roundRect">
            <a:avLst>
              <a:gd name="adj" fmla="val 24000"/>
            </a:avLst>
          </a:prstGeom>
          <a:solidFill>
            <a:srgbClr val="F6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alendar_C45A4E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9783" y="2324039"/>
            <a:ext cx="399409" cy="39940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0" y="3127248"/>
            <a:ext cx="203911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6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67328"/>
            <a:ext cx="203911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22733"/>
                </a:solidFill>
                <a:latin typeface="Calibri"/>
              </a:rPr>
              <a:t>rent demanded upfront when the guarantor wall blocks a student.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285232"/>
            <a:ext cx="10817352" cy="566928"/>
          </a:xfrm>
          <a:prstGeom prst="roundRect">
            <a:avLst>
              <a:gd name="adj" fmla="val 18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285232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>
                <a:solidFill>
                  <a:srgbClr val="102A54"/>
                </a:solidFill>
                <a:latin typeface="Calibri"/>
              </a:rPr>
              <a:t>Source: 42 interviews with international students at ISTEC and three other Paris schools, January to March 2026.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01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The timing is on our side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896112" cy="896112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06" y="2089585"/>
            <a:ext cx="465978" cy="46597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37943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3E63A6"/>
                </a:solidFill>
                <a:latin typeface="Calibri"/>
              </a:rPr>
              <a:t>430,000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901951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102A54"/>
                </a:solidFill>
                <a:latin typeface="Calibri"/>
              </a:rPr>
              <a:t>international students in France, 2024-25.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423159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6B7380"/>
                </a:solidFill>
                <a:latin typeface="Calibri"/>
              </a:rPr>
              <a:t>Government target: 500,000 by 2027.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099815"/>
            <a:ext cx="896112" cy="896112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uilding_3E63A6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306" y="3314881"/>
            <a:ext cx="465978" cy="46597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063239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3E63A6"/>
                </a:solidFill>
                <a:latin typeface="Calibri"/>
              </a:rPr>
              <a:t>~175,000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127247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102A54"/>
                </a:solidFill>
                <a:latin typeface="Calibri"/>
              </a:rPr>
              <a:t>publicly owned CROUS rooms.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648455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6B7380"/>
                </a:solidFill>
                <a:latin typeface="Calibri"/>
              </a:rPr>
              <a:t>Long waitlists, allocation favours French and EU students.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325111"/>
            <a:ext cx="896112" cy="896112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catter_3E63A6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306" y="4540177"/>
            <a:ext cx="465978" cy="46597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74519" y="4288535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300" b="1" i="0">
                <a:solidFill>
                  <a:srgbClr val="3E63A6"/>
                </a:solidFill>
                <a:latin typeface="Calibri"/>
              </a:rPr>
              <a:t>under 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352543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 i="0">
                <a:solidFill>
                  <a:srgbClr val="102A54"/>
                </a:solidFill>
                <a:latin typeface="Calibri"/>
              </a:rPr>
              <a:t>of private student stock is professionally managed.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0520" y="4873751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6B7380"/>
                </a:solidFill>
                <a:latin typeface="Calibri"/>
              </a:rPr>
              <a:t>The rest is scattered across small landlords.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1828799"/>
            <a:ext cx="3154680" cy="4023360"/>
          </a:xfrm>
          <a:prstGeom prst="roundRect">
            <a:avLst>
              <a:gd name="adj" fmla="val 7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mpass_C99A3C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9368" y="2103119"/>
            <a:ext cx="548640" cy="548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59368" y="2788919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99A3C"/>
                </a:solidFill>
                <a:latin typeface="Calibri"/>
              </a:rPr>
              <a:t>Why this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3200399"/>
            <a:ext cx="26060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The 2026 intake grew up booking flights, food and rides from an app.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They expect housing to work the same way.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Right now, it does not.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02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Euronest, in one frame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2395728" cy="39776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408" y="2139696"/>
            <a:ext cx="841248" cy="841248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ield_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307" y="2341595"/>
            <a:ext cx="437448" cy="4374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04288" y="21031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E7EDF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200400"/>
            <a:ext cx="18470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 i="0">
                <a:solidFill>
                  <a:srgbClr val="102A54"/>
                </a:solidFill>
                <a:latin typeface="Calibri"/>
              </a:rPr>
              <a:t>Verified apartment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977640"/>
            <a:ext cx="184708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Every property is visited and checked against a 38-point list. We refuse roughly a third of what landlords offer.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4408" y="1828800"/>
            <a:ext cx="2395728" cy="39776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57016" y="2139696"/>
            <a:ext cx="841248" cy="841248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allet_3E63A6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915" y="2341595"/>
            <a:ext cx="437448" cy="4374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82896" y="21031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E7EDF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7016" y="3200400"/>
            <a:ext cx="18470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 i="0">
                <a:solidFill>
                  <a:srgbClr val="102A54"/>
                </a:solidFill>
                <a:latin typeface="Calibri"/>
              </a:rPr>
              <a:t>One bundled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7016" y="3977640"/>
            <a:ext cx="184708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Rent, utilities, internet and lifestyle services on a single invoice. Euronest is the guarantor on standard and premium.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43016" y="1828800"/>
            <a:ext cx="2395728" cy="397763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35624" y="2139696"/>
            <a:ext cx="841248" cy="841248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headset_3E63A6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7523" y="2341595"/>
            <a:ext cx="437448" cy="4374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61504" y="21031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 i="0">
                <a:solidFill>
                  <a:srgbClr val="E7EDF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5624" y="3200400"/>
            <a:ext cx="184708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 i="0">
                <a:solidFill>
                  <a:srgbClr val="102A54"/>
                </a:solidFill>
                <a:latin typeface="Calibri"/>
              </a:rPr>
              <a:t>One named coordinator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3977640"/>
            <a:ext cx="184708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Each subscriber gets one multilingual contact, reachable on WhatsApp from move-in to move-out.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1828800"/>
            <a:ext cx="3291840" cy="3977639"/>
          </a:xfrm>
          <a:prstGeom prst="roundRect">
            <a:avLst>
              <a:gd name="adj" fmla="val 4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camera_8FA6CC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180" y="3063239"/>
            <a:ext cx="868680" cy="868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29600" y="413765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Lifestyle photo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530851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Suggested: a student at home, cooking,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or with friends. Portrait crop,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min 1200x1500px.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02 · USER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How a student becomes a subscriber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569464"/>
            <a:ext cx="8668512" cy="45720"/>
          </a:xfrm>
          <a:prstGeom prst="rect">
            <a:avLst/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98448" y="2148840"/>
            <a:ext cx="877824" cy="877824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arch_FFFFFF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2368296"/>
            <a:ext cx="438912" cy="43891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1901952" y="2093976"/>
            <a:ext cx="329184" cy="329184"/>
          </a:xfrm>
          <a:prstGeom prst="ellipse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20939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37560"/>
            <a:ext cx="2103120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204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Discover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3931920"/>
            <a:ext cx="36576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4087368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30" b="0" i="0">
                <a:solidFill>
                  <a:srgbClr val="222733"/>
                </a:solidFill>
                <a:latin typeface="Calibri"/>
              </a:rPr>
              <a:t>A TikTok, a friend, or a YouTube city guide. They land on the site and watch a 90-second explainer.</a:t>
            </a:r>
          </a:p>
        </p:txBody>
      </p:sp>
      <p:sp>
        <p:nvSpPr>
          <p:cNvPr id="18" name="Oval 17"/>
          <p:cNvSpPr/>
          <p:nvPr/>
        </p:nvSpPr>
        <p:spPr>
          <a:xfrm>
            <a:off x="3465576" y="2148840"/>
            <a:ext cx="877824" cy="877824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ursor_FFFFFF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2368296"/>
            <a:ext cx="438912" cy="43891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4069080" y="2093976"/>
            <a:ext cx="329184" cy="329184"/>
          </a:xfrm>
          <a:prstGeom prst="ellipse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0939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52928" y="3337560"/>
            <a:ext cx="2103120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2928" y="35204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Book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21608" y="3931920"/>
            <a:ext cx="36576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4087368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30" b="0" i="0">
                <a:solidFill>
                  <a:srgbClr val="222733"/>
                </a:solidFill>
                <a:latin typeface="Calibri"/>
              </a:rPr>
              <a:t>They pick a city, a tier and a move-in date, sign a bilingual lease, and pay into escrow.</a:t>
            </a:r>
          </a:p>
        </p:txBody>
      </p:sp>
      <p:sp>
        <p:nvSpPr>
          <p:cNvPr id="26" name="Oval 25"/>
          <p:cNvSpPr/>
          <p:nvPr/>
        </p:nvSpPr>
        <p:spPr>
          <a:xfrm>
            <a:off x="5632704" y="2148840"/>
            <a:ext cx="877824" cy="877824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key_FFFFFF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368296"/>
            <a:ext cx="438912" cy="43891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6236208" y="2093976"/>
            <a:ext cx="329184" cy="329184"/>
          </a:xfrm>
          <a:prstGeom prst="ellipse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0939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0056" y="3337560"/>
            <a:ext cx="2103120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0056" y="35204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Arrive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88736" y="3931920"/>
            <a:ext cx="36576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21224" y="4087368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30" b="0" i="0">
                <a:solidFill>
                  <a:srgbClr val="222733"/>
                </a:solidFill>
                <a:latin typeface="Calibri"/>
              </a:rPr>
              <a:t>The coordinator meets them at the door for an inventory walkthrough. Wi-Fi is already on.</a:t>
            </a:r>
          </a:p>
        </p:txBody>
      </p:sp>
      <p:sp>
        <p:nvSpPr>
          <p:cNvPr id="34" name="Oval 33"/>
          <p:cNvSpPr/>
          <p:nvPr/>
        </p:nvSpPr>
        <p:spPr>
          <a:xfrm>
            <a:off x="7799832" y="2148840"/>
            <a:ext cx="877824" cy="877824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home_FFFFFF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2368296"/>
            <a:ext cx="438912" cy="438912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8403336" y="2093976"/>
            <a:ext cx="329184" cy="329184"/>
          </a:xfrm>
          <a:prstGeom prst="ellipse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3336" y="20939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87184" y="3337560"/>
            <a:ext cx="2103120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7184" y="35204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55864" y="3931920"/>
            <a:ext cx="36576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88352" y="4087368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30" b="0" i="0">
                <a:solidFill>
                  <a:srgbClr val="222733"/>
                </a:solidFill>
                <a:latin typeface="Calibri"/>
              </a:rPr>
              <a:t>WhatsApp stays open. Maintenance SLAs are published. The quiet-hours code is signed.</a:t>
            </a:r>
          </a:p>
        </p:txBody>
      </p:sp>
      <p:sp>
        <p:nvSpPr>
          <p:cNvPr id="42" name="Oval 41"/>
          <p:cNvSpPr/>
          <p:nvPr/>
        </p:nvSpPr>
        <p:spPr>
          <a:xfrm>
            <a:off x="9966960" y="2148840"/>
            <a:ext cx="877824" cy="877824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refresh_FFFFFF_260_1.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6416" y="2368296"/>
            <a:ext cx="438912" cy="43891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0570464" y="2093976"/>
            <a:ext cx="329184" cy="329184"/>
          </a:xfrm>
          <a:prstGeom prst="ellipse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70464" y="2093976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54312" y="3337560"/>
            <a:ext cx="2103120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54312" y="3520440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Renew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22992" y="3931920"/>
            <a:ext cx="365760" cy="3657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5480" y="4087368"/>
            <a:ext cx="17007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30" b="0" i="0">
                <a:solidFill>
                  <a:srgbClr val="222733"/>
                </a:solidFill>
                <a:latin typeface="Calibri"/>
              </a:rPr>
              <a:t>Two months out: renew, swap city, or get matched with a roommate for next year.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02 · THE OFFER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Three tiers, one monthly invoice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83080"/>
            <a:ext cx="35204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331720"/>
            <a:ext cx="3520440" cy="530352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92938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Basic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" y="2313432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EUR </a:t>
            </a:r>
            <a:r>
              <a:rPr sz="3000" b="1" i="0">
                <a:solidFill>
                  <a:srgbClr val="FFFFFF"/>
                </a:solidFill>
                <a:latin typeface="Calibri"/>
              </a:rPr>
              <a:t>690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/ mo</a:t>
            </a:r>
          </a:p>
        </p:txBody>
      </p:sp>
      <p:pic>
        <p:nvPicPr>
          <p:cNvPr id="14" name="Picture 13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312724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99032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Furnished apartment</a:t>
            </a:r>
          </a:p>
        </p:txBody>
      </p:sp>
      <p:pic>
        <p:nvPicPr>
          <p:cNvPr id="16" name="Picture 15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3584448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2" y="35661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Fibre internet</a:t>
            </a:r>
          </a:p>
        </p:txBody>
      </p:sp>
      <p:pic>
        <p:nvPicPr>
          <p:cNvPr id="18" name="Picture 17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4041648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399032" y="40233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Utilities included</a:t>
            </a:r>
          </a:p>
        </p:txBody>
      </p:sp>
      <p:pic>
        <p:nvPicPr>
          <p:cNvPr id="20" name="Picture 19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449884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99032" y="44805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Contents insurance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" y="4983480"/>
            <a:ext cx="2880360" cy="18288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5102352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1">
                <a:solidFill>
                  <a:srgbClr val="6B7380"/>
                </a:solidFill>
                <a:latin typeface="Calibri"/>
              </a:rPr>
              <a:t>Short stays and budget-minded Erasmus students.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98264" y="1664208"/>
            <a:ext cx="352044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98264" y="1664208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8264" y="2212848"/>
            <a:ext cx="3520440" cy="530352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64224" y="184708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184708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102A54"/>
                </a:solidFill>
                <a:latin typeface="Calibri"/>
              </a:rPr>
              <a:t>MOST POPULAR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4" y="1810512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4" y="2194560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EUR </a:t>
            </a:r>
            <a:r>
              <a:rPr sz="3000" b="1" i="0">
                <a:solidFill>
                  <a:srgbClr val="FFFFFF"/>
                </a:solidFill>
                <a:latin typeface="Calibri"/>
              </a:rPr>
              <a:t>890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/ mo</a:t>
            </a:r>
          </a:p>
        </p:txBody>
      </p:sp>
      <p:pic>
        <p:nvPicPr>
          <p:cNvPr id="31" name="Picture 30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008376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84064" y="29900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Everything in Basic</a:t>
            </a:r>
          </a:p>
        </p:txBody>
      </p:sp>
      <p:pic>
        <p:nvPicPr>
          <p:cNvPr id="33" name="Picture 32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465576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84064" y="34472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Gym and fitness pass</a:t>
            </a:r>
          </a:p>
        </p:txBody>
      </p:sp>
      <p:pic>
        <p:nvPicPr>
          <p:cNvPr id="35" name="Picture 34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922776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84064" y="39044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Netflix or Amazon Prime</a:t>
            </a:r>
          </a:p>
        </p:txBody>
      </p:sp>
      <p:pic>
        <p:nvPicPr>
          <p:cNvPr id="37" name="Picture 36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4379976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084064" y="4361688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Euronest acts as guarantor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18304" y="4864608"/>
            <a:ext cx="2880360" cy="18288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18304" y="49834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1">
                <a:solidFill>
                  <a:srgbClr val="6B7380"/>
                </a:solidFill>
                <a:latin typeface="Calibri"/>
              </a:rPr>
              <a:t>Master's students staying a full academic year.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83296" y="1783080"/>
            <a:ext cx="35204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83296" y="1783080"/>
            <a:ext cx="3520440" cy="1078992"/>
          </a:xfrm>
          <a:prstGeom prst="roundRect">
            <a:avLst>
              <a:gd name="adj" fmla="val 6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83296" y="2331720"/>
            <a:ext cx="3520440" cy="53035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3336" y="192938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Premium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03336" y="2313432"/>
            <a:ext cx="2971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EUR </a:t>
            </a:r>
            <a:r>
              <a:rPr sz="3000" b="1" i="0">
                <a:solidFill>
                  <a:srgbClr val="FFFFFF"/>
                </a:solidFill>
                <a:latin typeface="Calibri"/>
              </a:rPr>
              <a:t>1,190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/ mo</a:t>
            </a:r>
          </a:p>
        </p:txBody>
      </p:sp>
      <p:pic>
        <p:nvPicPr>
          <p:cNvPr id="46" name="Picture 45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3127248"/>
            <a:ext cx="237744" cy="23774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69096" y="3108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Everything in Standard</a:t>
            </a:r>
          </a:p>
        </p:txBody>
      </p:sp>
      <p:pic>
        <p:nvPicPr>
          <p:cNvPr id="48" name="Picture 47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3584448"/>
            <a:ext cx="237744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769096" y="35661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Meal plan, 15 meals a week</a:t>
            </a:r>
          </a:p>
        </p:txBody>
      </p:sp>
      <p:pic>
        <p:nvPicPr>
          <p:cNvPr id="50" name="Picture 49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4041648"/>
            <a:ext cx="237744" cy="23774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769096" y="40233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Visa and paperwork support</a:t>
            </a:r>
          </a:p>
        </p:txBody>
      </p:sp>
      <p:pic>
        <p:nvPicPr>
          <p:cNvPr id="52" name="Picture 51" descr="check_3E63A6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4498848"/>
            <a:ext cx="237744" cy="23774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769096" y="44805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Annual return-flight credit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03336" y="4983480"/>
            <a:ext cx="2880360" cy="18288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03336" y="5102352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1">
                <a:solidFill>
                  <a:srgbClr val="6B7380"/>
                </a:solidFill>
                <a:latin typeface="Calibri"/>
              </a:rPr>
              <a:t>Students whose families want the full setup.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" y="6236208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 i="1">
                <a:solidFill>
                  <a:srgbClr val="6B7380"/>
                </a:solidFill>
                <a:latin typeface="Calibri"/>
              </a:rPr>
              <a:t>Paris pricing. Other cities run 15-25% lower. Six-month prepay carries a 5% discount.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03 ·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Five cities, about 60% of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pic>
        <p:nvPicPr>
          <p:cNvPr id="9" name="Picture 8" descr="fr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3870251" cy="41605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496737" y="2670473"/>
            <a:ext cx="237744" cy="237744"/>
          </a:xfrm>
          <a:prstGeom prst="ellipse">
            <a:avLst/>
          </a:prstGeom>
          <a:solidFill>
            <a:srgbClr val="C9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0201" y="2633897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Paris</a:t>
            </a:r>
          </a:p>
        </p:txBody>
      </p:sp>
      <p:sp>
        <p:nvSpPr>
          <p:cNvPr id="12" name="Oval 11"/>
          <p:cNvSpPr/>
          <p:nvPr/>
        </p:nvSpPr>
        <p:spPr>
          <a:xfrm>
            <a:off x="2593493" y="2167340"/>
            <a:ext cx="237744" cy="237744"/>
          </a:xfrm>
          <a:prstGeom prst="ellipse">
            <a:avLst/>
          </a:prstGeom>
          <a:solidFill>
            <a:srgbClr val="3E63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6957" y="2130764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Lille</a:t>
            </a:r>
          </a:p>
        </p:txBody>
      </p:sp>
      <p:sp>
        <p:nvSpPr>
          <p:cNvPr id="14" name="Oval 13"/>
          <p:cNvSpPr/>
          <p:nvPr/>
        </p:nvSpPr>
        <p:spPr>
          <a:xfrm>
            <a:off x="3212733" y="3676738"/>
            <a:ext cx="237744" cy="237744"/>
          </a:xfrm>
          <a:prstGeom prst="ellipse">
            <a:avLst/>
          </a:prstGeom>
          <a:solidFill>
            <a:srgbClr val="C9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6197" y="3640162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Lyon</a:t>
            </a:r>
          </a:p>
        </p:txBody>
      </p:sp>
      <p:sp>
        <p:nvSpPr>
          <p:cNvPr id="16" name="Oval 15"/>
          <p:cNvSpPr/>
          <p:nvPr/>
        </p:nvSpPr>
        <p:spPr>
          <a:xfrm>
            <a:off x="2245170" y="4412086"/>
            <a:ext cx="237744" cy="237744"/>
          </a:xfrm>
          <a:prstGeom prst="ellipse">
            <a:avLst/>
          </a:prstGeom>
          <a:solidFill>
            <a:srgbClr val="3E63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28634" y="4375510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Toulouse</a:t>
            </a:r>
          </a:p>
        </p:txBody>
      </p:sp>
      <p:sp>
        <p:nvSpPr>
          <p:cNvPr id="18" name="Oval 17"/>
          <p:cNvSpPr/>
          <p:nvPr/>
        </p:nvSpPr>
        <p:spPr>
          <a:xfrm>
            <a:off x="3367543" y="4566896"/>
            <a:ext cx="237744" cy="237744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1007" y="4530320"/>
            <a:ext cx="1463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Marseille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6B7380"/>
                </a:solidFill>
                <a:latin typeface="Calibri"/>
              </a:rPr>
              <a:t>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6B7380"/>
                </a:solidFill>
                <a:latin typeface="Calibri"/>
              </a:rPr>
              <a:t>INTL. STUDENTS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82880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6B7380"/>
                </a:solidFill>
                <a:latin typeface="Calibri"/>
              </a:rPr>
              <a:t>ENTRY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2194560"/>
            <a:ext cx="539496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2194560"/>
            <a:ext cx="91440" cy="566928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19456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Paris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9456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22733"/>
                </a:solidFill>
                <a:latin typeface="Calibri"/>
              </a:rPr>
              <a:t>115,000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95560" y="23134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2313432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2852928"/>
            <a:ext cx="539496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852928"/>
            <a:ext cx="91440" cy="566928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85292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Lyon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8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22733"/>
                </a:solidFill>
                <a:latin typeface="Calibri"/>
              </a:rPr>
              <a:t>32,000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5560" y="297180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95560" y="2971800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Year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3511296"/>
            <a:ext cx="539496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35040" y="3511296"/>
            <a:ext cx="91440" cy="5669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351129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Lille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51129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22733"/>
                </a:solidFill>
                <a:latin typeface="Calibri"/>
              </a:rPr>
              <a:t>21,000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95560" y="363016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95560" y="3630168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35040" y="4169664"/>
            <a:ext cx="539496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35040" y="4169664"/>
            <a:ext cx="91440" cy="566928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41696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Toulouse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416966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22733"/>
                </a:solidFill>
                <a:latin typeface="Calibri"/>
              </a:rPr>
              <a:t>19,000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95560" y="428853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95560" y="4288536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Year 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4828032"/>
            <a:ext cx="5394960" cy="56692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4828032"/>
            <a:ext cx="91440" cy="566928"/>
          </a:xfrm>
          <a:prstGeom prst="rect">
            <a:avLst/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82803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Marseille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482803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222733"/>
                </a:solidFill>
                <a:latin typeface="Calibri"/>
              </a:rPr>
              <a:t>17,000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95560" y="4946904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95560" y="4946904"/>
            <a:ext cx="1051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Year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553212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1">
                <a:solidFill>
                  <a:srgbClr val="6B7380"/>
                </a:solidFill>
                <a:latin typeface="Calibri"/>
              </a:rPr>
              <a:t>Paris and Lyon at launch give us critical mass without spreading the team too thin. Lille and Toulouse open the Erasmus corridor; Marseille closes the southern triangle.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03 · 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Nobody else bundles all three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6492240" cy="4069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0" y="1828800"/>
            <a:ext cx="3246120" cy="2034540"/>
          </a:xfrm>
          <a:prstGeom prst="rect">
            <a:avLst/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14216" y="1828800"/>
            <a:ext cx="22860" cy="4069080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54196"/>
            <a:ext cx="6492240" cy="22860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938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B7380"/>
                </a:solidFill>
                <a:latin typeface="Calibri"/>
              </a:rPr>
              <a:t>MORE SERVICE  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555040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6B7380"/>
                </a:solidFill>
                <a:latin typeface="Calibri"/>
              </a:rPr>
              <a:t>MORE INVENTORY  ▶</a:t>
            </a:r>
          </a:p>
        </p:txBody>
      </p:sp>
      <p:sp>
        <p:nvSpPr>
          <p:cNvPr id="15" name="Oval 14"/>
          <p:cNvSpPr/>
          <p:nvPr/>
        </p:nvSpPr>
        <p:spPr>
          <a:xfrm>
            <a:off x="1724558" y="5074005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62302" y="5028285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Airbnb</a:t>
            </a:r>
          </a:p>
        </p:txBody>
      </p:sp>
      <p:sp>
        <p:nvSpPr>
          <p:cNvPr id="17" name="Oval 16"/>
          <p:cNvSpPr/>
          <p:nvPr/>
        </p:nvSpPr>
        <p:spPr>
          <a:xfrm>
            <a:off x="2893161" y="4585716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30905" y="453999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Studapart</a:t>
            </a:r>
          </a:p>
        </p:txBody>
      </p:sp>
      <p:sp>
        <p:nvSpPr>
          <p:cNvPr id="19" name="Oval 18"/>
          <p:cNvSpPr/>
          <p:nvPr/>
        </p:nvSpPr>
        <p:spPr>
          <a:xfrm>
            <a:off x="3282696" y="3934663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3888943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HousingAnywhere</a:t>
            </a:r>
          </a:p>
        </p:txBody>
      </p:sp>
      <p:sp>
        <p:nvSpPr>
          <p:cNvPr id="21" name="Oval 20"/>
          <p:cNvSpPr/>
          <p:nvPr/>
        </p:nvSpPr>
        <p:spPr>
          <a:xfrm>
            <a:off x="3931920" y="3527755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664" y="3482035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Student.com</a:t>
            </a:r>
          </a:p>
        </p:txBody>
      </p:sp>
      <p:sp>
        <p:nvSpPr>
          <p:cNvPr id="23" name="Oval 22"/>
          <p:cNvSpPr/>
          <p:nvPr/>
        </p:nvSpPr>
        <p:spPr>
          <a:xfrm>
            <a:off x="4451299" y="3771900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9043" y="372618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Uniplaces</a:t>
            </a:r>
          </a:p>
        </p:txBody>
      </p:sp>
      <p:sp>
        <p:nvSpPr>
          <p:cNvPr id="25" name="Oval 24"/>
          <p:cNvSpPr/>
          <p:nvPr/>
        </p:nvSpPr>
        <p:spPr>
          <a:xfrm>
            <a:off x="1464868" y="5399532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02612" y="535381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CROUS</a:t>
            </a:r>
          </a:p>
        </p:txBody>
      </p:sp>
      <p:sp>
        <p:nvSpPr>
          <p:cNvPr id="27" name="Oval 26"/>
          <p:cNvSpPr/>
          <p:nvPr/>
        </p:nvSpPr>
        <p:spPr>
          <a:xfrm>
            <a:off x="2114092" y="3690518"/>
            <a:ext cx="182880" cy="182880"/>
          </a:xfrm>
          <a:prstGeom prst="ellipse">
            <a:avLst/>
          </a:prstGeom>
          <a:solidFill>
            <a:srgbClr val="6E8FC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51836" y="364479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222733"/>
                </a:solidFill>
                <a:latin typeface="Calibri"/>
              </a:rPr>
              <a:t>Local agencies</a:t>
            </a:r>
          </a:p>
        </p:txBody>
      </p:sp>
      <p:sp>
        <p:nvSpPr>
          <p:cNvPr id="29" name="Oval 28"/>
          <p:cNvSpPr/>
          <p:nvPr/>
        </p:nvSpPr>
        <p:spPr>
          <a:xfrm>
            <a:off x="5685739" y="2324404"/>
            <a:ext cx="310896" cy="310896"/>
          </a:xfrm>
          <a:prstGeom prst="ellipse">
            <a:avLst/>
          </a:prstGeom>
          <a:solidFill>
            <a:srgbClr val="C9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1499" y="234269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02A54"/>
                </a:solidFill>
                <a:latin typeface="Calibri"/>
              </a:rPr>
              <a:t>Euronest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19202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Our position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35240" y="2286000"/>
            <a:ext cx="457200" cy="457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check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578608"/>
            <a:ext cx="274320" cy="2743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46720" y="2523744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Curated inventory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20" y="2834640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B7380"/>
                </a:solidFill>
                <a:latin typeface="Calibri"/>
              </a:rPr>
              <a:t>We hand-pick and verify, instead of listing everything.</a:t>
            </a:r>
          </a:p>
        </p:txBody>
      </p:sp>
      <p:pic>
        <p:nvPicPr>
          <p:cNvPr id="36" name="Picture 35" descr="check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538728"/>
            <a:ext cx="274320" cy="2743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46720" y="3483864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In-house guarantor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794760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B7380"/>
                </a:solidFill>
                <a:latin typeface="Calibri"/>
              </a:rPr>
              <a:t>Backed by our own balance sheet, not a third party.</a:t>
            </a:r>
          </a:p>
        </p:txBody>
      </p:sp>
      <p:pic>
        <p:nvPicPr>
          <p:cNvPr id="39" name="Picture 38" descr="check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4498848"/>
            <a:ext cx="274320" cy="2743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046720" y="4443984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Service layer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754880"/>
            <a:ext cx="3520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B7380"/>
                </a:solidFill>
                <a:latin typeface="Calibri"/>
              </a:rPr>
              <a:t>A bundle that only pays off if you specialise in students.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54864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1">
                <a:solidFill>
                  <a:srgbClr val="3E63A6"/>
                </a:solidFill>
                <a:latin typeface="Calibri"/>
              </a:rPr>
              <a:t>Pieces of our offer exist everywhere. Assembling all three is the moat.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04 ·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How the money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85800" y="1783080"/>
          <a:ext cx="4114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17830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Revenue mix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828800"/>
            <a:ext cx="603504" cy="60350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uro_3E63A6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4040" y="1973640"/>
            <a:ext cx="313822" cy="313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06440" y="1810512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Subscriptions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1031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6B7380"/>
                </a:solidFill>
                <a:latin typeface="Calibri"/>
              </a:rPr>
              <a:t>Monthly or six-month prepay across the three tiers.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670048"/>
            <a:ext cx="603504" cy="60350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andshake_3E63A6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4040" y="2814888"/>
            <a:ext cx="313822" cy="313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06440" y="265176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Landlord commission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9443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6B7380"/>
                </a:solidFill>
                <a:latin typeface="Calibri"/>
              </a:rPr>
              <a:t>6% on the first month for listings we route but do not head-lease.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3511296"/>
            <a:ext cx="603504" cy="60350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umbbell_3E63A6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4040" y="3656136"/>
            <a:ext cx="313822" cy="313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06440" y="3493008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Service partners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78561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6B7380"/>
                </a:solidFill>
                <a:latin typeface="Calibri"/>
              </a:rPr>
              <a:t>A fixed margin from gyms, ISPs and meal providers.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4352544"/>
            <a:ext cx="603504" cy="603504"/>
          </a:xfrm>
          <a:prstGeom prst="roundRect">
            <a:avLst>
              <a:gd name="adj" fmla="val 24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lus_3E63A6_260_1.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4040" y="4497384"/>
            <a:ext cx="313822" cy="313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06440" y="4334256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2A54"/>
                </a:solidFill>
                <a:latin typeface="Calibri"/>
              </a:rPr>
              <a:t>Add-ons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626864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6B7380"/>
                </a:solidFill>
                <a:latin typeface="Calibri"/>
              </a:rPr>
              <a:t>Airport pickup, SIM cards, language coaching.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49640" y="1828800"/>
            <a:ext cx="2971800" cy="3931920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01168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99A3C"/>
                </a:solidFill>
                <a:latin typeface="Calibri"/>
              </a:rPr>
              <a:t>Unit economics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2286000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8FC7"/>
                </a:solidFill>
                <a:latin typeface="Calibri"/>
              </a:rPr>
              <a:t>Year 1, blended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26974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Avg. subscription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9" y="2697480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99A3C"/>
                </a:solidFill>
                <a:latin typeface="Calibri"/>
              </a:rPr>
              <a:t>EUR 870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23960" y="3154680"/>
            <a:ext cx="2423160" cy="9525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3264408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Cost of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59" y="3264408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99A3C"/>
                </a:solidFill>
                <a:latin typeface="Calibri"/>
              </a:rPr>
              <a:t>EUR 390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721608"/>
            <a:ext cx="2423160" cy="9525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3831336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Contribution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59" y="3831336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99A3C"/>
                </a:solidFill>
                <a:latin typeface="Calibri"/>
              </a:rPr>
              <a:t>EUR 480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23960" y="4288536"/>
            <a:ext cx="2423160" cy="9525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23960" y="4398264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Fixed monthly opex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59" y="4398264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99A3C"/>
                </a:solidFill>
                <a:latin typeface="Calibri"/>
              </a:rPr>
              <a:t>EUR 18.5k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23960" y="4855464"/>
            <a:ext cx="2423160" cy="9525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23960" y="4965192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Break-even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9" y="4965192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C99A3C"/>
                </a:solidFill>
                <a:latin typeface="Calibri"/>
              </a:rPr>
              <a:t>39 subs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04 · SERVICE STANDARDS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What we promise the subscriber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78308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783080"/>
            <a:ext cx="128016" cy="2286000"/>
          </a:xfrm>
          <a:prstGeom prst="roundRect">
            <a:avLst>
              <a:gd name="adj" fmla="val 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057400"/>
            <a:ext cx="713232" cy="713232"/>
          </a:xfrm>
          <a:prstGeom prst="roundRect">
            <a:avLst>
              <a:gd name="adj" fmla="val 24000"/>
            </a:avLst>
          </a:prstGeom>
          <a:solidFill>
            <a:srgbClr val="F6E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lert_C45A4E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303" y="2228575"/>
            <a:ext cx="370880" cy="370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01952" y="20756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Emergency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5A4E"/>
                </a:solidFill>
                <a:latin typeface="Calibri"/>
              </a:rPr>
              <a:t>Within 24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90088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22733"/>
                </a:solidFill>
                <a:latin typeface="Calibri"/>
              </a:rPr>
              <a:t>No power, water leak, lock failure.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178308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98264" y="1783080"/>
            <a:ext cx="128016" cy="2286000"/>
          </a:xfrm>
          <a:prstGeom prst="roundRect">
            <a:avLst>
              <a:gd name="adj" fmla="val 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709160" y="2057400"/>
            <a:ext cx="713232" cy="713232"/>
          </a:xfrm>
          <a:prstGeom prst="roundRect">
            <a:avLst>
              <a:gd name="adj" fmla="val 24000"/>
            </a:avLst>
          </a:prstGeom>
          <a:solidFill>
            <a:srgbClr val="F1E7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lock_B5862F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335" y="2228575"/>
            <a:ext cx="370880" cy="370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6984" y="20756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Urgent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6984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Within 5 working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2990088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22733"/>
                </a:solidFill>
                <a:latin typeface="Calibri"/>
              </a:rPr>
              <a:t>Broken appliance, heater, prolonged outage.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1783080"/>
            <a:ext cx="35204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128016" cy="2286000"/>
          </a:xfrm>
          <a:prstGeom prst="roundRect">
            <a:avLst>
              <a:gd name="adj" fmla="val 0"/>
            </a:avLst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394192" y="2057400"/>
            <a:ext cx="713232" cy="713232"/>
          </a:xfrm>
          <a:prstGeom prst="roundRect">
            <a:avLst>
              <a:gd name="adj" fmla="val 24000"/>
            </a:avLst>
          </a:prstGeom>
          <a:solidFill>
            <a:srgbClr val="E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rench_3E6B4C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367" y="2228575"/>
            <a:ext cx="370880" cy="370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72016" y="2075688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02A54"/>
                </a:solidFill>
                <a:latin typeface="Calibri"/>
              </a:rPr>
              <a:t>Non-urgent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72016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4A7C59"/>
                </a:solidFill>
                <a:latin typeface="Calibri"/>
              </a:rPr>
              <a:t>Within 28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990088"/>
            <a:ext cx="2880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22733"/>
                </a:solidFill>
                <a:latin typeface="Calibri"/>
              </a:rPr>
              <a:t>Single fitting, sticking door or window.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343400"/>
            <a:ext cx="10762488" cy="1691640"/>
          </a:xfrm>
          <a:prstGeom prst="roundRect">
            <a:avLst>
              <a:gd name="adj" fmla="val 5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54456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99A3C"/>
                </a:solidFill>
                <a:latin typeface="Calibri"/>
              </a:rPr>
              <a:t>Also written into every lease</a:t>
            </a:r>
          </a:p>
        </p:txBody>
      </p:sp>
      <p:pic>
        <p:nvPicPr>
          <p:cNvPr id="32" name="Picture 31" descr="person_C99A3C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001768"/>
            <a:ext cx="384048" cy="3840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517904" y="496519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0">
                <a:solidFill>
                  <a:srgbClr val="FFFFFF"/>
                </a:solidFill>
                <a:latin typeface="Calibri"/>
              </a:rPr>
              <a:t>One named, multilingual coordinator. No call centre.</a:t>
            </a:r>
          </a:p>
        </p:txBody>
      </p:sp>
      <p:pic>
        <p:nvPicPr>
          <p:cNvPr id="34" name="Picture 33" descr="moon_C99A3C_260_1.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5001768"/>
            <a:ext cx="384048" cy="38404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123944" y="496519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0">
                <a:solidFill>
                  <a:srgbClr val="FFFFFF"/>
                </a:solidFill>
                <a:latin typeface="Calibri"/>
              </a:rPr>
              <a:t>Quiet hours 22:00-07:00, four-step escalation.</a:t>
            </a:r>
          </a:p>
        </p:txBody>
      </p:sp>
      <p:pic>
        <p:nvPicPr>
          <p:cNvPr id="36" name="Picture 35" descr="fire_C99A3C_260_1.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5001768"/>
            <a:ext cx="384048" cy="38404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729984" y="496519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0">
                <a:solidFill>
                  <a:srgbClr val="FFFFFF"/>
                </a:solidFill>
                <a:latin typeface="Calibri"/>
              </a:rPr>
              <a:t>Smoke alarm, blanket and extinguisher in every unit.</a:t>
            </a:r>
          </a:p>
        </p:txBody>
      </p:sp>
      <p:pic>
        <p:nvPicPr>
          <p:cNvPr id="38" name="Picture 37" descr="doc_C99A3C_260_1.6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3960" y="5001768"/>
            <a:ext cx="384048" cy="38404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336024" y="496519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80" b="0" i="0">
                <a:solidFill>
                  <a:srgbClr val="FFFFFF"/>
                </a:solidFill>
                <a:latin typeface="Calibri"/>
              </a:rPr>
              <a:t>Bilingual lease, deposit held in escrow.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05 ·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Three-year projection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85800" y="1828800"/>
          <a:ext cx="68580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1783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6B7380"/>
                </a:solidFill>
                <a:latin typeface="Calibri"/>
              </a:rPr>
              <a:t>EUR thousands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82880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rend_C99A3C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0116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92440" y="26517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C99A3C"/>
                </a:solidFill>
                <a:latin typeface="Calibri"/>
              </a:rPr>
              <a:t>Reading the numbers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06324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Year 1 is a build 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3558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The intake discount and a full team from month six put EBITDA at -EUR 35k.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97764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Positive in month 13-15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2702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Depending on how June to August occupancy lands.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89204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Year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518464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EBITDA of EUR 540k on EUR 3.36m revenue, a 16% margin.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05 ·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EUR 180,000 to launch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28800"/>
            <a:ext cx="4846320" cy="3977639"/>
          </a:xfrm>
          <a:prstGeom prst="roundRect">
            <a:avLst>
              <a:gd name="adj" fmla="val 6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uro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176272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2880360"/>
            <a:ext cx="42062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EUR </a:t>
            </a:r>
            <a:r>
              <a:rPr sz="5800" b="1" i="0">
                <a:solidFill>
                  <a:srgbClr val="FFFFFF"/>
                </a:solidFill>
                <a:latin typeface="Calibri"/>
              </a:rPr>
              <a:t>180k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38404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C99A3C"/>
                </a:solidFill>
                <a:latin typeface="Calibri"/>
              </a:rPr>
              <a:t>initial round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24712" y="4297680"/>
            <a:ext cx="4023360" cy="12700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26280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Founders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2" y="452628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EUR 40k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928616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Bpifrance student loan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2" y="4928616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EUR 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330952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Angel round (12% equity)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2192" y="5330952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EUR 80k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82880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102A54"/>
                </a:solidFill>
                <a:latin typeface="Calibri"/>
              </a:rPr>
              <a:t>Where it goes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240280"/>
            <a:ext cx="457200" cy="457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251460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Furniture, deposits,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514600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55k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2825496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3600" y="2825496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317296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Six months of fixed opex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3172968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45k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483864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943600" y="3483864"/>
            <a:ext cx="4264429" cy="182880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38313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Platform and mobile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831336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35k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0" y="4142232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4142232"/>
            <a:ext cx="3316778" cy="182880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48970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September 2026 marketing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4489704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25k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800600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0" y="4800600"/>
            <a:ext cx="2369127" cy="182880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0" y="514807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222733"/>
                </a:solidFill>
                <a:latin typeface="Calibri"/>
              </a:rPr>
              <a:t>Working capital reserve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5148072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02A54"/>
                </a:solidFill>
                <a:latin typeface="Calibri"/>
              </a:rPr>
              <a:t>EUR 20k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5458968"/>
            <a:ext cx="5212080" cy="182880"/>
          </a:xfrm>
          <a:prstGeom prst="roundRect">
            <a:avLst>
              <a:gd name="adj" fmla="val 50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0" y="5458968"/>
            <a:ext cx="1895301" cy="182880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585216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1">
                <a:solidFill>
                  <a:srgbClr val="6B7380"/>
                </a:solidFill>
                <a:latin typeface="Calibri"/>
              </a:rPr>
              <a:t>Half the raise goes into deposits and furniture, which we recover as leases turn over.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06 ·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The founding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691640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1892808"/>
            <a:ext cx="530352" cy="530352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92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1892808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CEO, PARTNERSHIPS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532888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Mansoor Ali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36392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246120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Hospitality operations; ran a 40-room hotel.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9856" y="1691640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9312" y="1892808"/>
            <a:ext cx="530352" cy="530352"/>
          </a:xfrm>
          <a:prstGeom prst="ellipse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9312" y="1892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1892808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COO, APARTMENTS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2532888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Fidha Fathima Panankavil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9312" y="3136392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9312" y="3246120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Real estate analyst; inventory and setup.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1691640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45936" y="1892808"/>
            <a:ext cx="530352" cy="530352"/>
          </a:xfrm>
          <a:prstGeom prst="ellipse">
            <a:avLst/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1892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892808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CFO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532888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Leo Joy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45936" y="3136392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3246120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Audit and corporate finance; the model and the raise.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33104" y="1691640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052560" y="1892808"/>
            <a:ext cx="530352" cy="530352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1892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01784" y="1892808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CTO,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2532888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Nithin Stanley George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3136392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0" y="3246120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Software engineer; website, app and payments.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4032504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2688" y="4233672"/>
            <a:ext cx="530352" cy="530352"/>
          </a:xfrm>
          <a:prstGeom prst="ellipse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" y="42336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81912" y="4233672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HEAD OF MARKETING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4873752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Minhaj Eswaramangalam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" y="5477256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586984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Digital marketing; paid social and referrals.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19856" y="4032504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39312" y="4233672"/>
            <a:ext cx="530352" cy="530352"/>
          </a:xfrm>
          <a:prstGeom prst="ellipse">
            <a:avLst/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39312" y="42336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8536" y="4233672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HEAD OF SUPPORT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9312" y="4873752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Gopinath Dasan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39312" y="5477256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39312" y="5586984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Multilingual support; leads the coordinators.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26480" y="4032504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45936" y="4233672"/>
            <a:ext cx="530352" cy="530352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45936" y="423367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NV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233672"/>
            <a:ext cx="14904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1" i="0">
                <a:solidFill>
                  <a:srgbClr val="3E63A6"/>
                </a:solidFill>
                <a:latin typeface="Calibri"/>
              </a:rPr>
              <a:t>HEAD OF LEGAL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45936" y="4873752"/>
            <a:ext cx="21488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02A54"/>
                </a:solidFill>
                <a:latin typeface="Calibri"/>
              </a:rPr>
              <a:t>Nithin Pallampetti Velayudhan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45936" y="5477256"/>
            <a:ext cx="2148840" cy="9525"/>
          </a:xfrm>
          <a:prstGeom prst="rect">
            <a:avLst/>
          </a:prstGeom>
          <a:solidFill>
            <a:srgbClr val="E6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45936" y="5586984"/>
            <a:ext cx="2148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00" b="0" i="0">
                <a:solidFill>
                  <a:srgbClr val="6B7380"/>
                </a:solidFill>
                <a:latin typeface="Calibri"/>
              </a:rPr>
              <a:t>Law graduate; leases, GDPR, compliance.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833104" y="4032504"/>
            <a:ext cx="2587752" cy="2212848"/>
          </a:xfrm>
          <a:prstGeom prst="roundRect">
            <a:avLst>
              <a:gd name="adj" fmla="val 7000"/>
            </a:avLst>
          </a:prstGeom>
          <a:solidFill>
            <a:srgbClr val="102A54"/>
          </a:solidFill>
          <a:ln>
            <a:noFill/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users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4270248"/>
            <a:ext cx="475488" cy="47548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052560" y="4946904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Seven founders.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294376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6E8FC7"/>
                </a:solidFill>
                <a:latin typeface="Calibri"/>
              </a:rPr>
              <a:t>Every one of us has been the customer we are now building for.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06 ·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Risks we are watching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828800"/>
            <a:ext cx="107624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28800"/>
            <a:ext cx="109728" cy="731520"/>
          </a:xfrm>
          <a:prstGeom prst="rect">
            <a:avLst/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_6B7380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01168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54480" y="1828800"/>
            <a:ext cx="3200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New brand, low trust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29968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4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2996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828800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222733"/>
                </a:solidFill>
                <a:latin typeface="Calibri"/>
              </a:rPr>
              <a:t>Money-back first month, verified reviews, 10% first-cohort discount for September 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679192"/>
            <a:ext cx="107624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679192"/>
            <a:ext cx="109728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lert_6B7380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862072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54480" y="2679192"/>
            <a:ext cx="3200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Cash gap before break-even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288036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2880360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222733"/>
                </a:solidFill>
                <a:latin typeface="Calibri"/>
              </a:rPr>
              <a:t>Six-month prepay pulls cash forward; a EUR 60k bridge is pre-agreed with the angel.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529584"/>
            <a:ext cx="107624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529584"/>
            <a:ext cx="109728" cy="731520"/>
          </a:xfrm>
          <a:prstGeom prst="rect">
            <a:avLst/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lert_6B7380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712464"/>
            <a:ext cx="36576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54480" y="3529584"/>
            <a:ext cx="3200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Regulation on furnished lets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3730752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3E6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3730752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LOW / HIGH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529584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222733"/>
                </a:solidFill>
                <a:latin typeface="Calibri"/>
              </a:rPr>
              <a:t>Quarterly legal review and FNAIM membership for early warning.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379976"/>
            <a:ext cx="107624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379976"/>
            <a:ext cx="109728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lert_6B7380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4562856"/>
            <a:ext cx="365760" cy="3657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554480" y="4379976"/>
            <a:ext cx="3200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Apartment damage or non-payment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458114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46320" y="4581144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379976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222733"/>
                </a:solidFill>
                <a:latin typeface="Calibri"/>
              </a:rPr>
              <a:t>Two-month deposit in escrow; liability cover bundled into the standard tier.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5230368"/>
            <a:ext cx="10762488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3232" y="5230368"/>
            <a:ext cx="109728" cy="73152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lert_6B7380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5413248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54480" y="5230368"/>
            <a:ext cx="3200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02A54"/>
                </a:solidFill>
                <a:latin typeface="Calibri"/>
              </a:rPr>
              <a:t>A key founder leaves early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543153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5431536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5230368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80" b="0" i="0">
                <a:solidFill>
                  <a:srgbClr val="222733"/>
                </a:solidFill>
                <a:latin typeface="Calibri"/>
              </a:rPr>
              <a:t>Four-year vesting with a one-year cliff; two-deep cover on every function.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" y="61722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3E63A6"/>
                </a:solidFill>
                <a:latin typeface="Calibri"/>
              </a:rPr>
              <a:t>Our own stop rule: under 120 subscribers and CAC above EUR 280 at month 18, we wind down.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3E63A6"/>
                </a:solidFill>
                <a:latin typeface="Calibri"/>
              </a:rPr>
              <a:t>06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76656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02A54"/>
                </a:solidFill>
                <a:latin typeface="Calibri"/>
              </a:rPr>
              <a:t>The road from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35024"/>
            <a:ext cx="566928" cy="50292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094415" y="457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4415" y="457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677924" y="2615184"/>
            <a:ext cx="9006840" cy="45720"/>
          </a:xfrm>
          <a:prstGeom prst="rect">
            <a:avLst/>
          </a:prstGeom>
          <a:solidFill>
            <a:srgbClr val="6E8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8156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ag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756" y="2423160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Q2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Incorporate, close the raise, ship the booking website.</a:t>
            </a:r>
          </a:p>
        </p:txBody>
      </p:sp>
      <p:sp>
        <p:nvSpPr>
          <p:cNvPr id="15" name="Oval 14"/>
          <p:cNvSpPr/>
          <p:nvPr/>
        </p:nvSpPr>
        <p:spPr>
          <a:xfrm>
            <a:off x="3049524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key_C99A3C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8124" y="2423160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578608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Q3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70048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First 25 apartments live. September intake: 20 paid subscribers.</a:t>
            </a:r>
          </a:p>
        </p:txBody>
      </p:sp>
      <p:sp>
        <p:nvSpPr>
          <p:cNvPr id="20" name="Oval 19"/>
          <p:cNvSpPr/>
          <p:nvPr/>
        </p:nvSpPr>
        <p:spPr>
          <a:xfrm>
            <a:off x="4850892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users_C99A3C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492" y="2423160"/>
            <a:ext cx="402336" cy="4023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379976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Q1 2027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71416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55 active subscribers. Mobile app on iOS and Android.</a:t>
            </a:r>
          </a:p>
        </p:txBody>
      </p:sp>
      <p:sp>
        <p:nvSpPr>
          <p:cNvPr id="25" name="Oval 24"/>
          <p:cNvSpPr/>
          <p:nvPr/>
        </p:nvSpPr>
        <p:spPr>
          <a:xfrm>
            <a:off x="6652260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in_C99A3C_260_1.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2423160"/>
            <a:ext cx="402336" cy="4023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81344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Q3 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2784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8232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Lille and Toulouse open. AI roommate matching goes live.</a:t>
            </a:r>
          </a:p>
        </p:txBody>
      </p:sp>
      <p:sp>
        <p:nvSpPr>
          <p:cNvPr id="30" name="Oval 29"/>
          <p:cNvSpPr/>
          <p:nvPr/>
        </p:nvSpPr>
        <p:spPr>
          <a:xfrm>
            <a:off x="8453628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trend_C99A3C_260_1.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2228" y="2423160"/>
            <a:ext cx="402336" cy="40233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982712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Q4 2027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74152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180 subscribers. First EBITDA-positive month.</a:t>
            </a:r>
          </a:p>
        </p:txBody>
      </p:sp>
      <p:sp>
        <p:nvSpPr>
          <p:cNvPr id="35" name="Oval 34"/>
          <p:cNvSpPr/>
          <p:nvPr/>
        </p:nvSpPr>
        <p:spPr>
          <a:xfrm>
            <a:off x="10254996" y="2194560"/>
            <a:ext cx="859536" cy="859536"/>
          </a:xfrm>
          <a:prstGeom prst="ellipse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rocket_C99A3C_260_1.6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3596" y="2423160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784080" y="3218688"/>
            <a:ext cx="1801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02A54"/>
                </a:solidFill>
                <a:latin typeface="Calibri"/>
              </a:rPr>
              <a:t>Q4 2028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3611880"/>
            <a:ext cx="1618488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DECE"/>
            </a:solidFill>
          </a:ln>
          <a:effectLst>
            <a:outerShdw blurRad="127000" dist="50800" dir="5400000" rotWithShape="0">
              <a:srgbClr val="9C8F76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30968" y="3822192"/>
            <a:ext cx="13075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070" b="0" i="0">
                <a:solidFill>
                  <a:srgbClr val="222733"/>
                </a:solidFill>
                <a:latin typeface="Calibri"/>
              </a:rPr>
              <a:t>320 subscribers. Marseille live, Series A conversations open.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806440"/>
            <a:ext cx="10652760" cy="566928"/>
          </a:xfrm>
          <a:prstGeom prst="roundRect">
            <a:avLst>
              <a:gd name="adj" fmla="val 16000"/>
            </a:avLst>
          </a:prstGeom>
          <a:solidFill>
            <a:srgbClr val="E7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580644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102A54"/>
                </a:solidFill>
                <a:latin typeface="Calibri"/>
              </a:rPr>
              <a:t>By month 18 we will know three things: margin discipline, retention between years, and whether the brand travels between cities.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6B7380"/>
                </a:solidFill>
                <a:latin typeface="Calibri"/>
              </a:rPr>
              <a:t>EURONEST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643737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Student Housing &amp; Lifestyle Subscription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2895" y="6437376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6B7380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99A3C"/>
                </a:solidFill>
                <a:latin typeface="Calibri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Why we will win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691640"/>
            <a:ext cx="640080" cy="54864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94560"/>
            <a:ext cx="3520440" cy="9144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97280" y="2514600"/>
            <a:ext cx="822960" cy="822960"/>
          </a:xfrm>
          <a:prstGeom prst="roundRect">
            <a:avLst>
              <a:gd name="adj" fmla="val 2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sers_C99A3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790" y="2712110"/>
            <a:ext cx="427939" cy="4279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352044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 are the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6E8FC7"/>
                </a:solidFill>
                <a:latin typeface="Calibri"/>
              </a:rPr>
              <a:t>Between the seven of us we lived this problem. Every feature started as something one of us needed on arrival.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219456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2194560"/>
            <a:ext cx="3520440" cy="9144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00600" y="2514600"/>
            <a:ext cx="822960" cy="822960"/>
          </a:xfrm>
          <a:prstGeom prst="roundRect">
            <a:avLst>
              <a:gd name="adj" fmla="val 2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ck_C99A3C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110" y="2712110"/>
            <a:ext cx="427939" cy="4279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00600" y="352044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The moat compounds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0233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6E8FC7"/>
                </a:solidFill>
                <a:latin typeface="Calibri"/>
              </a:rPr>
              <a:t>Verified inventory, an in-house guarantor and a service layer are easy to describe and hard to assemble.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219456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80" y="2194560"/>
            <a:ext cx="3520440" cy="91440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03920" y="2514600"/>
            <a:ext cx="822960" cy="822960"/>
          </a:xfrm>
          <a:prstGeom prst="roundRect">
            <a:avLst>
              <a:gd name="adj" fmla="val 24000"/>
            </a:avLst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pass_C99A3C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1430" y="2712110"/>
            <a:ext cx="427939" cy="42793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03920" y="352044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 know when to 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02336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6E8FC7"/>
                </a:solidFill>
                <a:latin typeface="Calibri"/>
              </a:rPr>
              <a:t>Below 120 subscribers and above EUR 280 CAC at month 18, we wind down. The product earns its growth or it does not.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893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>
                <a:solidFill>
                  <a:srgbClr val="6E8FC7"/>
                </a:solidFill>
                <a:latin typeface="Calibri"/>
              </a:rPr>
              <a:t>EURONEST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5295" y="598932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E8FC7"/>
                </a:solidFill>
                <a:latin typeface="Calibri"/>
              </a:rPr>
              <a:t>Student Housing &amp; Lifestyle Subscription  ·  April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mera_8FA6CC_260_1.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1507" y="2674620"/>
            <a:ext cx="868680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374904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Closing photo (full-bleed)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142232"/>
            <a:ext cx="116430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E8FC7"/>
                </a:solidFill>
                <a:latin typeface="Calibri"/>
              </a:rPr>
              <a:t>Suggested: a wide, warm shot of a city or a student space. Landscape, min 2400x1350px.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54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520440"/>
            <a:ext cx="777240" cy="64008"/>
          </a:xfrm>
          <a:prstGeom prst="rect">
            <a:avLst/>
          </a:prstGeom>
          <a:solidFill>
            <a:srgbClr val="C9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490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Calibri"/>
              </a:rPr>
              <a:t>We would like to hear your questions.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709160"/>
            <a:ext cx="3108960" cy="603504"/>
          </a:xfrm>
          <a:prstGeom prst="roundRect">
            <a:avLst>
              <a:gd name="adj" fmla="val 30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t_C99A3C_260_1.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828032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7048" y="4709160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founders@euronest.eu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4709160"/>
            <a:ext cx="3108960" cy="603504"/>
          </a:xfrm>
          <a:prstGeom prst="roundRect">
            <a:avLst>
              <a:gd name="adj" fmla="val 30000"/>
            </a:avLst>
          </a:prstGeom>
          <a:solidFill>
            <a:srgbClr val="1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in_C99A3C_260_1.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4828032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10328" y="4709160"/>
            <a:ext cx="23774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ISTEC, Paris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